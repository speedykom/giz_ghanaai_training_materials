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14650"/>
            <a:ext cx="85344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305176"/>
            <a:ext cx="103632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180035"/>
            <a:ext cx="103632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1335"/>
            <a:ext cx="5386917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31156"/>
            <a:ext cx="5386917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51335"/>
            <a:ext cx="5389033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31156"/>
            <a:ext cx="5389033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50000"/>
            <a:ext cx="4011084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550000"/>
            <a:ext cx="6815666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076326"/>
            <a:ext cx="4011084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3600450"/>
            <a:ext cx="73152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550000"/>
            <a:ext cx="73152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4025503"/>
            <a:ext cx="73152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50000"/>
            <a:ext cx="27432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50000"/>
            <a:ext cx="80264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Logo" Target="../media/image1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365760" y="182880"/>
            <a:ext cx="10972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Deep Learning with PyTorch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828800" y="2914650"/>
            <a:ext cx="85344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neurons to production models</a:t>
            </a:r>
            <a:br/>
            <a:br/>
            <a:r>
              <a:rPr/>
              <a:t>Speedykom Group GmbH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deep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Scikit-learn’s </a:t>
            </a:r>
            <a:r>
              <a:rPr>
                <a:latin typeface="Courier"/>
              </a:rPr>
              <a:t>.fit()</a:t>
            </a:r>
            <a:r>
              <a:rPr/>
              <a:t> handles tabular data well. But images, text, and audio need something more powerful.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CPU vs. GPU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/>
                <a:gridCol w="2260600"/>
                <a:gridCol w="2260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4–16 powerful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1,000–10,000+ simple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Sequential logic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Parallel math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DL 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Minutes per epoch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Seconds per epoch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Deep learning is millions of matrix multiplications. GPUs do them all at once.</a:t>
            </a:r>
          </a:p>
          <a:p>
            <a:pPr lvl="0" indent="0" marL="0">
              <a:buNone/>
            </a:pPr>
            <a:r>
              <a:rPr b="1"/>
              <a:t>No GPU?</a:t>
            </a:r>
            <a:r>
              <a:rPr/>
              <a:t> Google Colab gives you a free NVIDIA T4 (16GB VRAM). Click Runtime → Change runtime type → T4 GPU.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Neural network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happens inside a single neuron.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 single neuron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 b="1"/>
                  <a:t>Inputs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— the data (rainfall, humidity)</a:t>
                </a:r>
              </a:p>
              <a:p>
                <a:pPr lvl="0"/>
                <a:r>
                  <a:rPr b="1"/>
                  <a:t>Weights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— how much each input matters (learned)</a:t>
                </a:r>
              </a:p>
              <a:p>
                <a:pPr lvl="0"/>
                <a:r>
                  <a:rPr b="1"/>
                  <a:t>Bias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) — an adjustable offset (learned)</a:t>
                </a:r>
              </a:p>
              <a:p>
                <a:pPr lvl="0"/>
                <a:r>
                  <a:rPr b="1"/>
                  <a:t>Activation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) — introduces non-linearity</a:t>
                </a:r>
              </a:p>
              <a:p>
                <a:pPr lvl="0"/>
                <a:r>
                  <a:rPr b="1"/>
                  <a:t>Output</a:t>
                </a:r>
                <a:r>
                  <a:rPr/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 — the prediction</a:t>
                </a:r>
              </a:p>
              <a:p>
                <a:pPr lvl="0" indent="0" marL="0">
                  <a:buNone/>
                </a:pPr>
                <a:r>
                  <a:rPr/>
                  <a:t>A neural network is many of these connected together.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Activation functions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ReLU</a:t>
                </a:r>
                <a:r>
                  <a:rPr/>
                  <a:t> — for hidden layers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ReLU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max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Negative → 0. Positive → pass through. Adds non-linearity so stacked layers aren’t just one big linear equation.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Sigmoid</a:t>
                </a:r>
                <a:r>
                  <a:rPr/>
                  <a:t> — for binary output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Squashes any value to [0, 1]. Gives you a probability.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From linear regression to neural networks</a:t>
                </a:r>
              </a:p>
              <a:p>
                <a:pPr lvl="0" indent="0" marL="0">
                  <a:buNone/>
                </a:pPr>
                <a:r>
                  <a:rPr/>
                  <a:t>Linear regression: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w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Neural network: stack multiple layers with activations between them.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ReLU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Sigmoid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hidden layer lets the network learn combinations — “high humidity AND low pressure together means rain” — that a single linear equation can’t capture.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a model in PyTorch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Rain prediction with 4 features.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Define the architecture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torch.nn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nn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torch.nn.functional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F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RainPredictor(nn.Module):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n_features):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super</a:t>
            </a:r>
            <a:r>
              <a:rPr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nn.Linear(n_features,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4 → 5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nn.Linear(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5 → 3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.fc3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nn.Linear(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3 → 1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forward(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x):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F.relu(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.fc1(x))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F.relu(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.fc2(x))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torch.sigmoid(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.fc3(x))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x</a:t>
            </a:r>
            <a:br/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RainPredictor(n_features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Every PyTorch model inherits from </a:t>
            </a:r>
            <a:r>
              <a:rPr>
                <a:latin typeface="Courier"/>
              </a:rPr>
              <a:t>nn.Module</a:t>
            </a:r>
            <a:r>
              <a:rPr/>
              <a:t>. You define layers in </a:t>
            </a:r>
            <a:r>
              <a:rPr>
                <a:latin typeface="Courier"/>
              </a:rPr>
              <a:t>__init__</a:t>
            </a:r>
            <a:r>
              <a:rPr/>
              <a:t> and data flow in </a:t>
            </a:r>
            <a:r>
              <a:rPr>
                <a:latin typeface="Courier"/>
              </a:rPr>
              <a:t>forward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five steps of training</a:t>
            </a:r>
          </a:p>
          <a:p>
            <a:pPr lvl="0" indent="0" marL="0">
              <a:buNone/>
            </a:pPr>
            <a:r>
              <a:rPr/>
              <a:t>Every training loop follows this exact pattern: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epoch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(num_epochs):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1. Zero gradients — clear last step's slopes</a:t>
            </a:r>
            <a:br/>
            <a:r>
              <a:rPr>
                <a:latin typeface="Courier"/>
              </a:rPr>
              <a:t>    optimizer.zero_grad()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2. Forward pass — run data through the network</a:t>
            </a:r>
            <a:br/>
            <a:r>
              <a:rPr>
                <a:latin typeface="Courier"/>
              </a:rPr>
              <a:t>    y_pred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model(X_train)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3. Calculate loss — how wrong are we?</a:t>
            </a:r>
            <a:br/>
            <a:r>
              <a:rPr>
                <a:latin typeface="Courier"/>
              </a:rPr>
              <a:t>    loss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loss_fn(y_pred, y_train)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4. Backward pass — compute gradients</a:t>
            </a:r>
            <a:br/>
            <a:r>
              <a:rPr>
                <a:latin typeface="Courier"/>
              </a:rPr>
              <a:t>    loss.backward()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5. Update weights — adjust based on gradients</a:t>
            </a:r>
            <a:br/>
            <a:r>
              <a:rPr>
                <a:latin typeface="Courier"/>
              </a:rPr>
              <a:t>    optimizer.step()</a:t>
            </a:r>
          </a:p>
          <a:p>
            <a:pPr lvl="0" indent="0" marL="0">
              <a:buNone/>
            </a:pPr>
            <a:r>
              <a:rPr b="1"/>
              <a:t>Darts analogy:</a:t>
            </a:r>
            <a:r>
              <a:rPr/>
              <a:t> Throw blindfolded (forward). Friend yells how far off you are (loss). Brain calculates adjustment (backward). Adjust stance (update). Repeat 100 times (epochs).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Loss function and optimizer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Binary cross-entropy for classification</a:t>
            </a:r>
            <a:br/>
            <a:r>
              <a:rPr>
                <a:latin typeface="Courier"/>
              </a:rPr>
              <a:t>loss_fn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nn.BCELoss()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Adam optimizer — adaptive learning rates</a:t>
            </a:r>
            <a:br/>
            <a:r>
              <a:rPr>
                <a:latin typeface="Courier"/>
              </a:rPr>
              <a:t>optimizer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torch.optim.Adam(model.parameters(), lr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0.001</a:t>
            </a:r>
            <a:r>
              <a:rPr>
                <a:latin typeface="Courier"/>
              </a:rPr>
              <a:t>)</a:t>
            </a:r>
          </a:p>
          <a:p>
            <a:pPr lvl="0"/>
            <a:r>
              <a:rPr b="1"/>
              <a:t>Loss function</a:t>
            </a:r>
            <a:r>
              <a:rPr/>
              <a:t> — measures how wrong predictions are</a:t>
            </a:r>
          </a:p>
          <a:p>
            <a:pPr lvl="0"/>
            <a:r>
              <a:rPr b="1"/>
              <a:t>Optimizer</a:t>
            </a:r>
            <a:r>
              <a:rPr/>
              <a:t> — decides how to adjust weights</a:t>
            </a:r>
          </a:p>
          <a:p>
            <a:pPr lvl="0"/>
            <a:r>
              <a:rPr b="1"/>
              <a:t>Learning rate</a:t>
            </a:r>
            <a:r>
              <a:rPr/>
              <a:t> — how big each adjustment step is (0.001 is a safe default)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Tensors and device</a:t>
            </a:r>
          </a:p>
          <a:p>
            <a:pPr lvl="0" indent="0" marL="0">
              <a:buNone/>
            </a:pPr>
            <a:r>
              <a:rPr/>
              <a:t>PyTorch uses tensors, not NumPy arrays. Move them to GPU for speed.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Convert NumPy to tensors</a:t>
            </a:r>
            <a:br/>
            <a:r>
              <a:rPr>
                <a:latin typeface="Courier"/>
              </a:rPr>
              <a:t>X_train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torch.from_numpy(X_np).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y_train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torch.from_numpy(y_np).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Move to GPU</a:t>
            </a:r>
            <a:br/>
            <a:r>
              <a:rPr>
                <a:latin typeface="Courier"/>
              </a:rPr>
              <a:t>device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torch.device(</a:t>
            </a:r>
            <a:r>
              <a:rPr>
                <a:solidFill>
                  <a:srgbClr val="4070A0"/>
                </a:solidFill>
                <a:latin typeface="Courier"/>
              </a:rPr>
              <a:t>"cuda"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torch.cuda.is_available()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"cpu"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X_train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X_train.to(device)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model.to(device)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Convolutional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computers “see” images.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images</a:t>
            </a:r>
          </a:p>
          <a:p>
            <a:pPr lvl="0" indent="0" marL="0">
              <a:buNone/>
            </a:pPr>
            <a:r>
              <a:rPr/>
              <a:t>A 64x64 RGB image = 12,288 values. A fully connected layer with 100 neurons = </a:t>
            </a:r>
            <a:r>
              <a:rPr b="1"/>
              <a:t>1.2 million parameters</a:t>
            </a:r>
            <a:r>
              <a:rPr/>
              <a:t> just for layer one.</a:t>
            </a:r>
          </a:p>
          <a:p>
            <a:pPr lvl="0" indent="0" marL="0">
              <a:buNone/>
            </a:pPr>
            <a:r>
              <a:rPr/>
              <a:t>Problems: too much memory, overfitting, ignores spatial structure.</a:t>
            </a:r>
          </a:p>
          <a:p>
            <a:pPr lvl="0" indent="0" marL="0">
              <a:buNone/>
            </a:pPr>
            <a:r>
              <a:rPr b="1"/>
              <a:t>We need a smarter approach.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Convolutions — the flashlight detective</a:t>
            </a:r>
          </a:p>
          <a:p>
            <a:pPr lvl="0" indent="0" marL="0">
              <a:buNone/>
            </a:pPr>
            <a:r>
              <a:rPr/>
              <a:t>Instead of looking at all pixels at once, a CNN slides a small filter (3x3) across the image:</a:t>
            </a:r>
          </a:p>
          <a:p>
            <a:pPr lvl="0"/>
            <a:r>
              <a:rPr/>
              <a:t>One filter detects </a:t>
            </a:r>
            <a:r>
              <a:rPr b="1"/>
              <a:t>vertical edges</a:t>
            </a:r>
          </a:p>
          <a:p>
            <a:pPr lvl="0"/>
            <a:r>
              <a:rPr/>
              <a:t>Another detects </a:t>
            </a:r>
            <a:r>
              <a:rPr b="1"/>
              <a:t>horizontal edges</a:t>
            </a:r>
          </a:p>
          <a:p>
            <a:pPr lvl="0"/>
            <a:r>
              <a:rPr/>
              <a:t>Another detects </a:t>
            </a:r>
            <a:r>
              <a:rPr b="1"/>
              <a:t>textures</a:t>
            </a:r>
          </a:p>
          <a:p>
            <a:pPr lvl="0"/>
            <a:r>
              <a:rPr/>
              <a:t>Layer by layer, simple features build into complex objects</a:t>
            </a:r>
          </a:p>
          <a:p>
            <a:pPr lvl="0" indent="0" marL="0">
              <a:buNone/>
            </a:pPr>
            <a:r>
              <a:rPr/>
              <a:t>A 3x3 filter has </a:t>
            </a:r>
            <a:r>
              <a:rPr b="1"/>
              <a:t>9 parameters</a:t>
            </a:r>
            <a:r>
              <a:rPr/>
              <a:t> regardless of image size. That’s the efficiency breakthrough.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CNN architecture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TrafficSignCNN(nn.Module):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num_classes):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super</a:t>
            </a:r>
            <a:r>
              <a:rPr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.conv1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nn.Conv2d(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latin typeface="Courier"/>
              </a:rPr>
              <a:t>, kernel_size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padding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.pool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nn.MaxPool2d(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.conv2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nn.Conv2d(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latin typeface="Courier"/>
              </a:rPr>
              <a:t>, kernel_size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padding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nn.Linear(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128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nn.Linear(</a:t>
            </a:r>
            <a:r>
              <a:rPr>
                <a:solidFill>
                  <a:srgbClr val="40A070"/>
                </a:solidFill>
                <a:latin typeface="Courier"/>
              </a:rPr>
              <a:t>128</a:t>
            </a:r>
            <a:r>
              <a:rPr>
                <a:latin typeface="Courier"/>
              </a:rPr>
              <a:t>, num_classes)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forward(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x):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.pool(F.relu(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.conv1(x)))  </a:t>
            </a:r>
            <a:r>
              <a:rPr i="1">
                <a:solidFill>
                  <a:srgbClr val="60A0B0"/>
                </a:solidFill>
                <a:latin typeface="Courier"/>
              </a:rPr>
              <a:t># detect features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.pool(F.relu(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.conv2(x)))  </a:t>
            </a:r>
            <a:r>
              <a:rPr i="1">
                <a:solidFill>
                  <a:srgbClr val="60A0B0"/>
                </a:solidFill>
                <a:latin typeface="Courier"/>
              </a:rPr>
              <a:t># detect patterns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x.view(x.size(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flatten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F.relu(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.fc1(x))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classify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.fc2(x)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x</a:t>
            </a:r>
          </a:p>
          <a:p>
            <a:pPr lvl="0" indent="0" marL="0">
              <a:buNone/>
            </a:pPr>
            <a:r>
              <a:rPr b="1"/>
              <a:t>Conv → ReLU → Pool</a:t>
            </a:r>
            <a:r>
              <a:rPr/>
              <a:t> repeated, then flatten and classify.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CNN 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600"/>
                <a:gridCol w="340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Conv2d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Slides filters across the image, detects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ReLU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Activation — kills negatives, keeps positives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MaxPool2d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Shrinks the image by keeping the strongest signal in each region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view(-1)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Flattens 2D feature maps into a 1D vector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Linear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Fully connected layer for final classification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loading with DataLoader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torchvision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datasets, transforms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torch.utils.data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DataLoader</a:t>
            </a:r>
            <a:br/>
            <a:br/>
            <a:r>
              <a:rPr>
                <a:latin typeface="Courier"/>
              </a:rPr>
              <a:t>transform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transforms.Compose([</a:t>
            </a:r>
            <a:br/>
            <a:r>
              <a:rPr>
                <a:latin typeface="Courier"/>
              </a:rPr>
              <a:t>    transforms.Resize((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latin typeface="Courier"/>
              </a:rPr>
              <a:t>)),</a:t>
            </a:r>
            <a:br/>
            <a:r>
              <a:rPr>
                <a:latin typeface="Courier"/>
              </a:rPr>
              <a:t>    transforms.ToTensor(),</a:t>
            </a:r>
            <a:br/>
            <a:r>
              <a:rPr>
                <a:latin typeface="Courier"/>
              </a:rPr>
              <a:t>    transforms.Normalize([</a:t>
            </a:r>
            <a:r>
              <a:rPr>
                <a:solidFill>
                  <a:srgbClr val="40A070"/>
                </a:solidFill>
                <a:latin typeface="Courier"/>
              </a:rPr>
              <a:t>0.485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0.456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0.406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                 [</a:t>
            </a:r>
            <a:r>
              <a:rPr>
                <a:solidFill>
                  <a:srgbClr val="40A070"/>
                </a:solidFill>
                <a:latin typeface="Courier"/>
              </a:rPr>
              <a:t>0.229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0.224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0.225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])</a:t>
            </a:r>
            <a:br/>
            <a:br/>
            <a:r>
              <a:rPr>
                <a:latin typeface="Courier"/>
              </a:rPr>
              <a:t>dataset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datasets.ImageFolder(root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'data/train'</a:t>
            </a:r>
            <a:r>
              <a:rPr>
                <a:latin typeface="Courier"/>
              </a:rPr>
              <a:t>, transform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transform)</a:t>
            </a:r>
            <a:br/>
            <a:r>
              <a:rPr>
                <a:latin typeface="Courier"/>
              </a:rPr>
              <a:t>train_loader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DataLoader(dataset, batch_size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latin typeface="Courier"/>
              </a:rPr>
              <a:t>, shuffle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ImageFolder</a:t>
            </a:r>
            <a:r>
              <a:rPr/>
              <a:t> expects one subfolder per class. </a:t>
            </a:r>
            <a:r>
              <a:rPr>
                <a:latin typeface="Courier"/>
              </a:rPr>
              <a:t>DataLoader</a:t>
            </a:r>
            <a:r>
              <a:rPr/>
              <a:t> handles batching and shuffling.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augmentation</a:t>
            </a:r>
          </a:p>
          <a:p>
            <a:pPr lvl="0" indent="0" marL="0">
              <a:buNone/>
            </a:pPr>
            <a:r>
              <a:rPr/>
              <a:t>Training images get randomly flipped, rotated, and color-shifted. This prevents the model from memorizing specific images.</a:t>
            </a:r>
          </a:p>
          <a:p>
            <a:pPr lvl="0" indent="0">
              <a:buNone/>
            </a:pPr>
            <a:r>
              <a:rPr>
                <a:latin typeface="Courier"/>
              </a:rPr>
              <a:t>train_transform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transforms.Compose([</a:t>
            </a:r>
            <a:br/>
            <a:r>
              <a:rPr>
                <a:latin typeface="Courier"/>
              </a:rPr>
              <a:t>    transforms.Resize((</a:t>
            </a:r>
            <a:r>
              <a:rPr>
                <a:solidFill>
                  <a:srgbClr val="40A070"/>
                </a:solidFill>
                <a:latin typeface="Courier"/>
              </a:rPr>
              <a:t>224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224</a:t>
            </a:r>
            <a:r>
              <a:rPr>
                <a:latin typeface="Courier"/>
              </a:rPr>
              <a:t>)),</a:t>
            </a:r>
            <a:br/>
            <a:r>
              <a:rPr>
                <a:latin typeface="Courier"/>
              </a:rPr>
              <a:t>    transforms.RandomHorizontalFlip(p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transforms.RandomRotation(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transforms.ColorJitter(brightness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, contrast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transforms.ToTensor(),</a:t>
            </a:r>
            <a:br/>
            <a:r>
              <a:rPr>
                <a:latin typeface="Courier"/>
              </a:rPr>
              <a:t>    transforms.Normalize([</a:t>
            </a:r>
            <a:r>
              <a:rPr>
                <a:solidFill>
                  <a:srgbClr val="40A070"/>
                </a:solidFill>
                <a:latin typeface="Courier"/>
              </a:rPr>
              <a:t>0.485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0.456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0.406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0.229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0.224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0.225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])</a:t>
            </a:r>
          </a:p>
          <a:p>
            <a:pPr lvl="0" indent="0" marL="0">
              <a:buNone/>
            </a:pPr>
            <a:r>
              <a:rPr/>
              <a:t>Only augment training data. Validation data gets resize, tensor, normalize — nothing random.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Standing on the shoulders of giants.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not train from scratch?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/>
                <a:gridCol w="2260600"/>
                <a:gridCol w="2260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Transfer learning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needed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1M+ images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1,000–10,000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Training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Days/weeks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Minutes/hours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GPU cost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$1,000s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Often better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Models trained on ImageNet (1.4M images, 1000 classes) already know edges, textures, and shapes. Reuse that knowledge.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Phase 1 — feature extraction</a:t>
            </a:r>
          </a:p>
          <a:p>
            <a:pPr lvl="0" indent="0" marL="0">
              <a:buNone/>
            </a:pPr>
            <a:r>
              <a:rPr/>
              <a:t>Freeze the pre-trained layers. Only train a new final layer.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torchvision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models</a:t>
            </a:r>
            <a:br/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models.resnet18(weights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'IMAGENET1K_V1'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Freeze everything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param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model.parameters():</a:t>
            </a:r>
            <a:br/>
            <a:r>
              <a:rPr>
                <a:latin typeface="Courier"/>
              </a:rPr>
              <a:t>    param.requires_grad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Replace final layer for our classes</a:t>
            </a:r>
            <a:br/>
            <a:r>
              <a:rPr>
                <a:latin typeface="Courier"/>
              </a:rPr>
              <a:t>model.fc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nn.Linear(model.fc.in_features,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5 cassava diseases</a:t>
            </a:r>
          </a:p>
          <a:p>
            <a:pPr lvl="0" indent="0" marL="0">
              <a:buNone/>
            </a:pPr>
            <a:r>
              <a:rPr/>
              <a:t>Result: only 2,565 trainable parameters out of 11 million. Fast training, no overfitting.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Phase 2 — fine-tuning</a:t>
            </a:r>
          </a:p>
          <a:p>
            <a:pPr lvl="0" indent="0" marL="0">
              <a:buNone/>
            </a:pPr>
            <a:r>
              <a:rPr/>
              <a:t>After the new head is trained, unfreeze the whole network and train with a low learning rate.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Unfreeze all layers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param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model.parameters():</a:t>
            </a:r>
            <a:br/>
            <a:r>
              <a:rPr>
                <a:latin typeface="Courier"/>
              </a:rPr>
              <a:t>    param.requires_grad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Much lower learning rate — gentle adjustments</a:t>
            </a:r>
            <a:br/>
            <a:r>
              <a:rPr>
                <a:latin typeface="Courier"/>
              </a:rPr>
              <a:t>optimizer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optim.Adam(model.parameters(), lr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0.0001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Master chef analogy:</a:t>
            </a:r>
            <a:r>
              <a:rPr/>
              <a:t> Hire a chef who already knows knife skills (ImageNet features). Phase 1: give them a new menu (your classes). Phase 2: let them tweak spice levels for local palates.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cassava disease project</a:t>
            </a:r>
          </a:p>
          <a:p>
            <a:pPr lvl="0" indent="0" marL="0">
              <a:buNone/>
            </a:pPr>
            <a:r>
              <a:rPr/>
              <a:t>Real-world application: classify cassava leaf images into 5 categories.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600"/>
                <a:gridCol w="340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Disease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Bacterial blight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CBB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Brown streak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CBSD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 mottle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CGM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disease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Mosaic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Dataset: ~1.3 GB of cassava leaf photos from Kaggle. Transfer learning with ResNet18 achieves strong accuracy with minimal training.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ImageNet normalization</a:t>
            </a:r>
          </a:p>
          <a:p>
            <a:pPr lvl="0" indent="0" marL="0">
              <a:buNone/>
            </a:pPr>
            <a:r>
              <a:rPr/>
              <a:t>Pre-trained models expect inputs normalized to ImageNet statistics. Always use these exact values:</a:t>
            </a:r>
          </a:p>
          <a:p>
            <a:pPr lvl="0" indent="0">
              <a:buNone/>
            </a:pPr>
            <a:r>
              <a:rPr>
                <a:latin typeface="Courier"/>
              </a:rPr>
              <a:t>mean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0.485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0.456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0.406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std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0.229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0.224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0.225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transforms.Normalize(mean, std)</a:t>
            </a:r>
          </a:p>
          <a:p>
            <a:pPr lvl="0" indent="0" marL="0">
              <a:buNone/>
            </a:pPr>
            <a:r>
              <a:rPr/>
              <a:t>Skip this and your pre-trained model sees garbage input.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PyTorch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structure for every project.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Seven steps, any vision task</a:t>
            </a:r>
          </a:p>
          <a:p>
            <a:pPr lvl="0" indent="-342900" marL="342900">
              <a:buAutoNum type="arabicPeriod"/>
            </a:pPr>
            <a:r>
              <a:rPr b="1"/>
              <a:t>Data pipeline</a:t>
            </a:r>
            <a:r>
              <a:rPr/>
              <a:t> — </a:t>
            </a:r>
            <a:r>
              <a:rPr>
                <a:latin typeface="Courier"/>
              </a:rPr>
              <a:t>ImageFolder</a:t>
            </a:r>
            <a:r>
              <a:rPr/>
              <a:t> + </a:t>
            </a:r>
            <a:r>
              <a:rPr>
                <a:latin typeface="Courier"/>
              </a:rPr>
              <a:t>transforms</a:t>
            </a:r>
            <a:r>
              <a:rPr/>
              <a:t> + </a:t>
            </a:r>
            <a:r>
              <a:rPr>
                <a:latin typeface="Courier"/>
              </a:rPr>
              <a:t>DataLoader</a:t>
            </a:r>
          </a:p>
          <a:p>
            <a:pPr lvl="0" indent="-342900" marL="342900">
              <a:buAutoNum type="arabicPeriod"/>
            </a:pPr>
            <a:r>
              <a:rPr b="1"/>
              <a:t>Model</a:t>
            </a:r>
            <a:r>
              <a:rPr/>
              <a:t> — define architecture or load pre-trained</a:t>
            </a:r>
          </a:p>
          <a:p>
            <a:pPr lvl="0" indent="-342900" marL="342900">
              <a:buAutoNum type="arabicPeriod"/>
            </a:pPr>
            <a:r>
              <a:rPr b="1"/>
              <a:t>Loss function</a:t>
            </a:r>
            <a:r>
              <a:rPr/>
              <a:t> — </a:t>
            </a:r>
            <a:r>
              <a:rPr>
                <a:latin typeface="Courier"/>
              </a:rPr>
              <a:t>CrossEntropyLoss</a:t>
            </a:r>
            <a:r>
              <a:rPr/>
              <a:t> for multi-class, </a:t>
            </a:r>
            <a:r>
              <a:rPr>
                <a:latin typeface="Courier"/>
              </a:rPr>
              <a:t>BCELoss</a:t>
            </a:r>
            <a:r>
              <a:rPr/>
              <a:t> for binary</a:t>
            </a:r>
          </a:p>
          <a:p>
            <a:pPr lvl="0" indent="-342900" marL="342900">
              <a:buAutoNum type="arabicPeriod"/>
            </a:pPr>
            <a:r>
              <a:rPr b="1"/>
              <a:t>Optimizer</a:t>
            </a:r>
            <a:r>
              <a:rPr/>
              <a:t> — </a:t>
            </a:r>
            <a:r>
              <a:rPr>
                <a:latin typeface="Courier"/>
              </a:rPr>
              <a:t>Adam(model.parameters(), lr=0.001)</a:t>
            </a:r>
          </a:p>
          <a:p>
            <a:pPr lvl="0" indent="-342900" marL="342900">
              <a:buAutoNum type="arabicPeriod"/>
            </a:pPr>
            <a:r>
              <a:rPr b="1"/>
              <a:t>Training loop</a:t>
            </a:r>
            <a:r>
              <a:rPr/>
              <a:t> — zero_grad → forward → loss → backward → step</a:t>
            </a:r>
          </a:p>
          <a:p>
            <a:pPr lvl="0" indent="-342900" marL="342900">
              <a:buAutoNum type="arabicPeriod"/>
            </a:pPr>
            <a:r>
              <a:rPr b="1"/>
              <a:t>Validation</a:t>
            </a:r>
            <a:r>
              <a:rPr/>
              <a:t> — </a:t>
            </a:r>
            <a:r>
              <a:rPr>
                <a:latin typeface="Courier"/>
              </a:rPr>
              <a:t>with torch.no_grad():</a:t>
            </a:r>
            <a:r>
              <a:rPr/>
              <a:t> after each epoch</a:t>
            </a:r>
          </a:p>
          <a:p>
            <a:pPr lvl="0" indent="-342900" marL="342900">
              <a:buAutoNum type="arabicPeriod"/>
            </a:pPr>
            <a:r>
              <a:rPr b="1"/>
              <a:t>Save/load</a:t>
            </a:r>
            <a:r>
              <a:rPr/>
              <a:t> — </a:t>
            </a:r>
            <a:r>
              <a:rPr>
                <a:latin typeface="Courier"/>
              </a:rPr>
              <a:t>torch.save(model.state_dict(), 'model.pth')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learned across three notebooks.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picture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Notebook 1: Fundamentals</a:t>
            </a:r>
          </a:p>
          <a:p>
            <a:pPr lvl="0"/>
            <a:r>
              <a:rPr/>
              <a:t>Single neuron math</a:t>
            </a:r>
          </a:p>
          <a:p>
            <a:pPr lvl="0"/>
            <a:r>
              <a:rPr/>
              <a:t>ReLU and sigmoid</a:t>
            </a:r>
          </a:p>
          <a:p>
            <a:pPr lvl="0"/>
            <a:r>
              <a:rPr/>
              <a:t>PyTorch tensors</a:t>
            </a:r>
          </a:p>
          <a:p>
            <a:pPr lvl="0"/>
            <a:r>
              <a:rPr>
                <a:latin typeface="Courier"/>
              </a:rPr>
              <a:t>nn.Module</a:t>
            </a:r>
            <a:r>
              <a:rPr/>
              <a:t> pattern</a:t>
            </a:r>
          </a:p>
          <a:p>
            <a:pPr lvl="0"/>
            <a:r>
              <a:rPr/>
              <a:t>5-step training loop</a:t>
            </a:r>
          </a:p>
          <a:p>
            <a:pPr lvl="0"/>
            <a:r>
              <a:rPr/>
              <a:t>Rain prediction (tabular)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Notebook 2: CNNs</a:t>
            </a:r>
          </a:p>
          <a:p>
            <a:pPr lvl="0"/>
            <a:r>
              <a:rPr/>
              <a:t>CPU vs. GPU</a:t>
            </a:r>
          </a:p>
          <a:p>
            <a:pPr lvl="0"/>
            <a:r>
              <a:rPr/>
              <a:t>Convolutions and pooling</a:t>
            </a:r>
          </a:p>
          <a:p>
            <a:pPr lvl="0"/>
            <a:r>
              <a:rPr/>
              <a:t>CNN architecture</a:t>
            </a:r>
          </a:p>
          <a:p>
            <a:pPr lvl="0"/>
            <a:r>
              <a:rPr/>
              <a:t>DataLoader pipeline</a:t>
            </a:r>
          </a:p>
          <a:p>
            <a:pPr lvl="0"/>
            <a:r>
              <a:rPr/>
              <a:t>Data augmentation</a:t>
            </a:r>
          </a:p>
          <a:p>
            <a:pPr lvl="0"/>
            <a:r>
              <a:rPr/>
              <a:t>Traffic sign classification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rules to carry forward</a:t>
            </a:r>
          </a:p>
          <a:p>
            <a:pPr lvl="0" indent="-342900" marL="342900">
              <a:buAutoNum type="arabicPeriod"/>
            </a:pPr>
            <a:r>
              <a:rPr b="1"/>
              <a:t>Always move to device</a:t>
            </a:r>
            <a:r>
              <a:rPr/>
              <a:t> — </a:t>
            </a:r>
            <a:r>
              <a:rPr>
                <a:latin typeface="Courier"/>
              </a:rPr>
              <a:t>model.to(device)</a:t>
            </a:r>
            <a:r>
              <a:rPr/>
              <a:t> and </a:t>
            </a:r>
            <a:r>
              <a:rPr>
                <a:latin typeface="Courier"/>
              </a:rPr>
              <a:t>data.to(device)</a:t>
            </a:r>
          </a:p>
          <a:p>
            <a:pPr lvl="0" indent="-342900" marL="342900">
              <a:buAutoNum type="arabicPeriod"/>
            </a:pPr>
            <a:r>
              <a:rPr b="1"/>
              <a:t>Normalize inputs</a:t>
            </a:r>
            <a:r>
              <a:rPr/>
              <a:t> — ImageNet stats for pre-trained models, always</a:t>
            </a:r>
          </a:p>
          <a:p>
            <a:pPr lvl="0" indent="-342900" marL="342900">
              <a:buAutoNum type="arabicPeriod"/>
            </a:pPr>
            <a:r>
              <a:rPr b="1"/>
              <a:t>Augment training only</a:t>
            </a:r>
            <a:r>
              <a:rPr/>
              <a:t> — validation data stays clean</a:t>
            </a:r>
          </a:p>
          <a:p>
            <a:pPr lvl="0" indent="-342900" marL="342900">
              <a:buAutoNum type="arabicPeriod"/>
            </a:pPr>
            <a:r>
              <a:rPr b="1"/>
              <a:t>Start with transfer learning</a:t>
            </a:r>
            <a:r>
              <a:rPr/>
              <a:t> — only build from scratch when you must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torch.no_grad()</a:t>
            </a:r>
            <a:r>
              <a:rPr b="1"/>
              <a:t> for eval</a:t>
            </a:r>
            <a:r>
              <a:rPr/>
              <a:t> — saves memory, prevents gradient tracking</a:t>
            </a:r>
          </a:p>
          <a:p>
            <a:pPr lvl="0" indent="-342900" marL="342900">
              <a:buAutoNum type="arabicPeriod"/>
            </a:pPr>
            <a:r>
              <a:rPr b="1"/>
              <a:t>Save state_dict, not the model</a:t>
            </a:r>
            <a:r>
              <a:rPr/>
              <a:t> — </a:t>
            </a:r>
            <a:r>
              <a:rPr>
                <a:latin typeface="Courier"/>
              </a:rPr>
              <a:t>torch.save(model.state_dict(), path)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next</a:t>
            </a:r>
          </a:p>
          <a:p>
            <a:pPr lvl="0" indent="0" marL="0">
              <a:buNone/>
            </a:pPr>
            <a:r>
              <a:rPr b="1"/>
              <a:t>Module 7: Agentic AI</a:t>
            </a:r>
          </a:p>
          <a:p>
            <a:pPr lvl="0"/>
            <a:r>
              <a:rPr/>
              <a:t>Building AI agents that reason and act</a:t>
            </a:r>
          </a:p>
          <a:p>
            <a:pPr lvl="0"/>
            <a:r>
              <a:rPr/>
              <a:t>From model inference to autonomous decision-making</a:t>
            </a:r>
          </a:p>
          <a:p>
            <a:pPr lvl="0"/>
            <a:r>
              <a:rPr/>
              <a:t>Connecting everything you’ve learned into working systems</a:t>
            </a:r>
          </a:p>
          <a:p>
            <a:pPr lvl="0" indent="0" marL="0">
              <a:buNone/>
            </a:pPr>
            <a:r>
              <a:rPr/>
              <a:t>You can now build models. Time to make them do things on their own.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004367"/>
      </a:dk2>
      <a:lt2>
        <a:srgbClr val="FFFFFF"/>
      </a:lt2>
      <a:accent1>
        <a:srgbClr val="004367"/>
      </a:accent1>
      <a:accent2>
        <a:srgbClr val="56A09A"/>
      </a:accent2>
      <a:accent3>
        <a:srgbClr val="31BAE9"/>
      </a:accent3>
      <a:accent4>
        <a:srgbClr val="8064A2"/>
      </a:accent4>
      <a:accent5>
        <a:srgbClr val="4BACC6"/>
      </a:accent5>
      <a:accent6>
        <a:srgbClr val="F79646"/>
      </a:accent6>
      <a:hlink>
        <a:srgbClr val="56A09A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with PyTorch</dc:title>
  <dc:creator>Speedykom Group GmbH</dc:creator>
  <cp:keywords/>
  <dcterms:created xsi:type="dcterms:W3CDTF">2026-04-10T17:10:25Z</dcterms:created>
  <dcterms:modified xsi:type="dcterms:W3CDTF">2026-04-10T17:10:25Z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>python3</vt:lpwstr>
  </property>
  <property fmtid="{D5CDD505-2E9C-101B-9397-08002B2CF9AE}" pid="11" name="labels">
    <vt:lpwstr/>
  </property>
  <property fmtid="{D5CDD505-2E9C-101B-9397-08002B2CF9AE}" pid="12" name="subtitle">
    <vt:lpwstr>From neurons to production models</vt:lpwstr>
  </property>
  <property fmtid="{D5CDD505-2E9C-101B-9397-08002B2CF9AE}" pid="13" name="toc-title">
    <vt:lpwstr>Table of contents</vt:lpwstr>
  </property>
</Properties>
</file>