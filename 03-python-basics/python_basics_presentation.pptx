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notesMaster" Target="notesMasters/notesMaster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indentation is not optional. Four spaces, every time. Mixing tabs and spaces will break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819"/>
            <a:ext cx="103632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14650"/>
            <a:ext cx="85344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305176"/>
            <a:ext cx="103632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180035"/>
            <a:ext cx="103632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1335"/>
            <a:ext cx="5386917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31156"/>
            <a:ext cx="5386917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51335"/>
            <a:ext cx="5389033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31156"/>
            <a:ext cx="5389033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550000"/>
            <a:ext cx="4011084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550000"/>
            <a:ext cx="6815666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076326"/>
            <a:ext cx="4011084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3600450"/>
            <a:ext cx="73152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550000"/>
            <a:ext cx="73152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4025503"/>
            <a:ext cx="73152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550000"/>
            <a:ext cx="27432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50000"/>
            <a:ext cx="80264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Logo" Target="../media/image1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Logo"/>
          <a:stretch>
            <a:fillRect/>
          </a:stretch>
        </p:blipFill>
        <p:spPr>
          <a:xfrm>
            <a:off x="365760" y="182880"/>
            <a:ext cx="10972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819"/>
            <a:ext cx="103632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Python for Full-Stack Developers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828800" y="2914650"/>
            <a:ext cx="85344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JavaScript to Python — the fast track</a:t>
            </a:r>
            <a:br/>
            <a:br/>
            <a:r>
              <a:rPr/>
              <a:t>Speedykom Group GmbH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mindset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already know logic. This is just new syntax.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JS vs. Python — the cheat sheet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/>
                <a:gridCol w="2235200"/>
                <a:gridCol w="3009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Python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Blocks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{ curly braces 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Indentation (4 spaces)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const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let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var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Just the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Naming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camelCase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snake_case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True/False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False</a:t>
                      </a:r>
                      <a:r>
                        <a:rPr/>
                        <a:t> (capitalized)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null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undefined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None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Print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console.log()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print()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Variables and f-strings</a:t>
            </a:r>
          </a:p>
          <a:p>
            <a:pPr lvl="0" indent="0" marL="0">
              <a:buNone/>
            </a:pPr>
            <a:r>
              <a:rPr/>
              <a:t>Python variables are labels, not boxes. No type declarations needed.</a:t>
            </a:r>
          </a:p>
          <a:p>
            <a:pPr lvl="0" indent="0">
              <a:buNone/>
            </a:pP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"Kwame"</a:t>
            </a:r>
            <a:br/>
            <a:r>
              <a:rPr>
                <a:latin typeface="Courier"/>
              </a:rPr>
              <a:t>age: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          </a:t>
            </a:r>
            <a:r>
              <a:rPr i="1">
                <a:solidFill>
                  <a:srgbClr val="60A0B0"/>
                </a:solidFill>
                <a:latin typeface="Courier"/>
              </a:rPr>
              <a:t># type hint — optional, but good practice</a:t>
            </a:r>
            <a:br/>
            <a:r>
              <a:rPr>
                <a:latin typeface="Courier"/>
              </a:rPr>
              <a:t>is_active: </a:t>
            </a:r>
            <a:r>
              <a:rPr>
                <a:solidFill>
                  <a:srgbClr val="008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f-strings = Python's template literals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f"User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is a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age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year old engineer."</a:t>
            </a:r>
            <a:r>
              <a:rPr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print(f"{var}")</a:t>
            </a:r>
            <a:r>
              <a:rPr sz="2000"/>
              <a:t> is exactly like </a:t>
            </a:r>
            <a:r>
              <a:rPr sz="2000">
                <a:latin typeface="Courier"/>
              </a:rPr>
              <a:t>console.log(`${var}`)</a:t>
            </a:r>
            <a:r>
              <a:rPr sz="2000"/>
              <a:t> in JavaScript.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types you must know cold.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Lists — the “array”</a:t>
            </a:r>
          </a:p>
          <a:p>
            <a:pPr lvl="0" indent="0" marL="0">
              <a:buNone/>
            </a:pPr>
            <a:r>
              <a:rPr/>
              <a:t>Mutable, ordered. You can change them after creation.</a:t>
            </a:r>
          </a:p>
          <a:p>
            <a:pPr lvl="0" indent="0">
              <a:buNone/>
            </a:pPr>
            <a:r>
              <a:rPr>
                <a:latin typeface="Courier"/>
              </a:rPr>
              <a:t>stack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"React"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"Express"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"Node"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stack[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         </a:t>
            </a:r>
            <a:r>
              <a:rPr i="1">
                <a:solidFill>
                  <a:srgbClr val="60A0B0"/>
                </a:solidFill>
                <a:latin typeface="Courier"/>
              </a:rPr>
              <a:t># "React"</a:t>
            </a:r>
            <a:br/>
            <a:r>
              <a:rPr>
                <a:latin typeface="Courier"/>
              </a:rPr>
              <a:t>stack[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        </a:t>
            </a:r>
            <a:r>
              <a:rPr i="1">
                <a:solidFill>
                  <a:srgbClr val="60A0B0"/>
                </a:solidFill>
                <a:latin typeface="Courier"/>
              </a:rPr>
              <a:t># "Node" — negative indexing!</a:t>
            </a:r>
            <a:br/>
            <a:r>
              <a:rPr>
                <a:latin typeface="Courier"/>
              </a:rPr>
              <a:t>stack[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]        </a:t>
            </a:r>
            <a:r>
              <a:rPr i="1">
                <a:solidFill>
                  <a:srgbClr val="60A0B0"/>
                </a:solidFill>
                <a:latin typeface="Courier"/>
              </a:rPr>
              <a:t># ["React", "Express"] — slicing</a:t>
            </a:r>
            <a:br/>
            <a:br/>
            <a:r>
              <a:rPr>
                <a:latin typeface="Courier"/>
              </a:rPr>
              <a:t>stack.append(</a:t>
            </a:r>
            <a:r>
              <a:rPr>
                <a:solidFill>
                  <a:srgbClr val="4070A0"/>
                </a:solidFill>
                <a:latin typeface="Courier"/>
              </a:rPr>
              <a:t>"Python"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JS: .push()</a:t>
            </a:r>
            <a:br/>
            <a:r>
              <a:rPr>
                <a:latin typeface="Courier"/>
              </a:rPr>
              <a:t>stack.remove(</a:t>
            </a:r>
            <a:r>
              <a:rPr>
                <a:solidFill>
                  <a:srgbClr val="4070A0"/>
                </a:solidFill>
                <a:latin typeface="Courier"/>
              </a:rPr>
              <a:t>"Express"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# removes by value</a:t>
            </a:r>
            <a:br/>
            <a:r>
              <a:rPr>
                <a:latin typeface="Courier"/>
              </a:rPr>
              <a:t>stack.pop()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removes and returns last item</a:t>
            </a:r>
          </a:p>
          <a:p>
            <a:pPr lvl="0" indent="0" marL="0">
              <a:buNone/>
            </a:pPr>
            <a:r>
              <a:rPr b="1"/>
              <a:t>Negative indexing</a:t>
            </a:r>
            <a:r>
              <a:rPr/>
              <a:t> means you never need </a:t>
            </a:r>
            <a:r>
              <a:rPr>
                <a:latin typeface="Courier"/>
              </a:rPr>
              <a:t>array[array.length - 1]</a:t>
            </a:r>
            <a:r>
              <a:rPr/>
              <a:t> again.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Lists — real-world example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Shopping at Accra Mall</a:t>
            </a:r>
            <a:br/>
            <a:r>
              <a:rPr>
                <a:latin typeface="Courier"/>
              </a:rPr>
              <a:t>cart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"Banku"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"Tom Bobo"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"Peanut Butter"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"Plantain Chips"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cart.append(</a:t>
            </a:r>
            <a:r>
              <a:rPr>
                <a:solidFill>
                  <a:srgbClr val="4070A0"/>
                </a:solidFill>
                <a:latin typeface="Courier"/>
              </a:rPr>
              <a:t>"Gari"</a:t>
            </a:r>
            <a:r>
              <a:rPr>
                <a:latin typeface="Courier"/>
              </a:rPr>
              <a:t>)       </a:t>
            </a:r>
            <a:r>
              <a:rPr i="1">
                <a:solidFill>
                  <a:srgbClr val="60A0B0"/>
                </a:solidFill>
                <a:latin typeface="Courier"/>
              </a:rPr>
              <a:t># forgot this one</a:t>
            </a:r>
            <a:br/>
            <a:r>
              <a:rPr>
                <a:latin typeface="Courier"/>
              </a:rPr>
              <a:t>cart.remove(</a:t>
            </a:r>
            <a:r>
              <a:rPr>
                <a:solidFill>
                  <a:srgbClr val="4070A0"/>
                </a:solidFill>
                <a:latin typeface="Courier"/>
              </a:rPr>
              <a:t>"Tom Bobo"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too spicy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f"First item: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cart[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f"Last item: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cart[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f"Total items: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(cart)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AI connection:</a:t>
            </a:r>
            <a:r>
              <a:rPr sz="2000"/>
              <a:t> NLP breaks sentences into lists of tokens: </a:t>
            </a:r>
            <a:r>
              <a:rPr sz="2000">
                <a:latin typeface="Courier"/>
              </a:rPr>
              <a:t>["The", "quick", "brown", "fox"]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Tuples — the “constant array”</a:t>
            </a:r>
          </a:p>
          <a:p>
            <a:pPr lvl="0" indent="0" marL="0">
              <a:buNone/>
            </a:pPr>
            <a:r>
              <a:rPr/>
              <a:t>Immutable. Once created, you cannot change them.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Accra's coordinates — these should never change</a:t>
            </a:r>
            <a:br/>
            <a:r>
              <a:rPr>
                <a:latin typeface="Courier"/>
              </a:rPr>
              <a:t>coordinates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5.55602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0.19690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Tuple unpacking</a:t>
            </a:r>
            <a:br/>
            <a:r>
              <a:rPr>
                <a:latin typeface="Courier"/>
              </a:rPr>
              <a:t>lat, lon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coordinates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This would crash: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coordinates[0] = 10.5  # TypeError!</a:t>
            </a:r>
          </a:p>
          <a:p>
            <a:pPr lvl="0" indent="0" marL="0">
              <a:buNone/>
            </a:pPr>
            <a:r>
              <a:rPr b="1"/>
              <a:t>Use tuples when data must stay fixed:</a:t>
            </a:r>
            <a:r>
              <a:rPr/>
              <a:t> RGB colors, GPS coordinates, image dimensions </a:t>
            </a:r>
            <a:r>
              <a:rPr>
                <a:latin typeface="Courier"/>
              </a:rPr>
              <a:t>(height, width, channels)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Dictionaries — the “object”</a:t>
            </a:r>
          </a:p>
          <a:p>
            <a:pPr lvl="0" indent="0" marL="0">
              <a:buNone/>
            </a:pPr>
            <a:r>
              <a:rPr/>
              <a:t>Key-value pairs. Similar to JSON, but keys must be hashable (strings, numbers, tuples — not lists).</a:t>
            </a:r>
          </a:p>
          <a:p>
            <a:pPr lvl="0" indent="0">
              <a:buNone/>
            </a:pPr>
            <a:r>
              <a:rPr>
                <a:latin typeface="Courier"/>
              </a:rPr>
              <a:t>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101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"Ama"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"skills"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70A0"/>
                </a:solidFill>
                <a:latin typeface="Courier"/>
              </a:rPr>
              <a:t>"JS"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"Python"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user[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]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"Ama"</a:t>
            </a:r>
            <a:br/>
            <a:r>
              <a:rPr>
                <a:latin typeface="Courier"/>
              </a:rPr>
              <a:t>user.get(</a:t>
            </a:r>
            <a:r>
              <a:rPr>
                <a:solidFill>
                  <a:srgbClr val="4070A0"/>
                </a:solidFill>
                <a:latin typeface="Courier"/>
              </a:rPr>
              <a:t>"salary"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     </a:t>
            </a:r>
            <a:r>
              <a:rPr i="1">
                <a:solidFill>
                  <a:srgbClr val="60A0B0"/>
                </a:solidFill>
                <a:latin typeface="Courier"/>
              </a:rPr>
              <a:t># safe access — returns 0 if missing</a:t>
            </a:r>
            <a:br/>
            <a:r>
              <a:rPr>
                <a:latin typeface="Courier"/>
              </a:rPr>
              <a:t>user[</a:t>
            </a:r>
            <a:r>
              <a:rPr>
                <a:solidFill>
                  <a:srgbClr val="4070A0"/>
                </a:solidFill>
                <a:latin typeface="Courier"/>
              </a:rPr>
              <a:t>"projects"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"API"</a:t>
            </a:r>
            <a:r>
              <a:rPr>
                <a:latin typeface="Courier"/>
              </a:rPr>
              <a:t>] </a:t>
            </a:r>
            <a:r>
              <a:rPr i="1">
                <a:solidFill>
                  <a:srgbClr val="60A0B0"/>
                </a:solidFill>
                <a:latin typeface="Courier"/>
              </a:rPr>
              <a:t># add a key dynamically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AI connection:</a:t>
            </a:r>
            <a:r>
              <a:rPr sz="2000"/>
              <a:t> HuggingFace models ship with </a:t>
            </a:r>
            <a:r>
              <a:rPr sz="2000">
                <a:latin typeface="Courier"/>
              </a:rPr>
              <a:t>config.json</a:t>
            </a:r>
            <a:r>
              <a:rPr sz="2000"/>
              <a:t> — Python loads it as a dictionary.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Sets — the “unique list”</a:t>
            </a:r>
          </a:p>
          <a:p>
            <a:pPr lvl="0" indent="0" marL="0">
              <a:buNone/>
            </a:pPr>
            <a:r>
              <a:rPr/>
              <a:t>Unordered, no duplicates. Perfect for deduplication and membership testing.</a:t>
            </a:r>
          </a:p>
          <a:p>
            <a:pPr lvl="0" indent="0">
              <a:buNone/>
            </a:pPr>
            <a:r>
              <a:rPr>
                <a:latin typeface="Courier"/>
              </a:rPr>
              <a:t>raw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"id_1"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"id_2"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"id_1"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"id_3"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unique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(raw)   </a:t>
            </a:r>
            <a:r>
              <a:rPr i="1">
                <a:solidFill>
                  <a:srgbClr val="60A0B0"/>
                </a:solidFill>
                <a:latin typeface="Courier"/>
              </a:rPr>
              <a:t># {"id_1", "id_2", "id_3"}</a:t>
            </a:r>
            <a:br/>
            <a:br/>
            <a:r>
              <a:rPr>
                <a:latin typeface="Courier"/>
              </a:rPr>
              <a:t>set_a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set_b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set_a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set_b       </a:t>
            </a:r>
            <a:r>
              <a:rPr i="1">
                <a:solidFill>
                  <a:srgbClr val="60A0B0"/>
                </a:solidFill>
                <a:latin typeface="Courier"/>
              </a:rPr>
              <a:t># intersection: {3}</a:t>
            </a:r>
            <a:br/>
            <a:r>
              <a:rPr>
                <a:latin typeface="Courier"/>
              </a:rPr>
              <a:t>set_a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set_b       </a:t>
            </a:r>
            <a:r>
              <a:rPr i="1">
                <a:solidFill>
                  <a:srgbClr val="60A0B0"/>
                </a:solidFill>
                <a:latin typeface="Courier"/>
              </a:rPr>
              <a:t># union: {1, 2, 3, 4, 5}</a:t>
            </a:r>
            <a:br/>
            <a:r>
              <a:rPr>
                <a:latin typeface="Courier"/>
              </a:rPr>
              <a:t>set_a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set_b       </a:t>
            </a:r>
            <a:r>
              <a:rPr i="1">
                <a:solidFill>
                  <a:srgbClr val="60A0B0"/>
                </a:solidFill>
                <a:latin typeface="Courier"/>
              </a:rPr>
              <a:t># difference: {1, 2}</a:t>
            </a:r>
          </a:p>
          <a:p>
            <a:pPr lvl="0" indent="0" marL="0">
              <a:buNone/>
            </a:pPr>
            <a:r>
              <a:rPr b="1"/>
              <a:t>AI connection:</a:t>
            </a:r>
            <a:r>
              <a:rPr/>
              <a:t> Convert a million tweets to a set to instantly find the unique vocabulary.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logic, different keywords.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Conditionals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else if</a:t>
            </a:r>
            <a:r>
              <a:rPr/>
              <a:t> becomes </a:t>
            </a:r>
            <a:r>
              <a:rPr>
                <a:latin typeface="Courier"/>
              </a:rPr>
              <a:t>elif</a:t>
            </a:r>
            <a:r>
              <a:rPr/>
              <a:t>. Curly braces become indentation.</a:t>
            </a:r>
          </a:p>
          <a:p>
            <a:pPr lvl="0" indent="0">
              <a:buNone/>
            </a:pPr>
            <a:r>
              <a:rPr>
                <a:latin typeface="Courier"/>
              </a:rPr>
              <a:t>status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404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status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"Success"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status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404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"Not Found"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"Server Error"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truthiness trap</a:t>
            </a:r>
          </a:p>
          <a:p>
            <a:pPr lvl="0" indent="0" marL="0">
              <a:buNone/>
            </a:pPr>
            <a:r>
              <a:rPr/>
              <a:t>In JavaScript, </a:t>
            </a:r>
            <a:r>
              <a:rPr>
                <a:latin typeface="Courier"/>
              </a:rPr>
              <a:t>[]</a:t>
            </a:r>
            <a:r>
              <a:rPr/>
              <a:t> is truthy. In Python, empty collections are </a:t>
            </a:r>
            <a:r>
              <a:rPr b="1"/>
              <a:t>falsy</a:t>
            </a:r>
            <a:r>
              <a:rPr/>
              <a:t>: </a:t>
            </a:r>
            <a:r>
              <a:rPr>
                <a:latin typeface="Courier"/>
              </a:rPr>
              <a:t>[]</a:t>
            </a:r>
            <a:r>
              <a:rPr/>
              <a:t>, </a:t>
            </a:r>
            <a:r>
              <a:rPr>
                <a:latin typeface="Courier"/>
              </a:rPr>
              <a:t>{}</a:t>
            </a:r>
            <a:r>
              <a:rPr/>
              <a:t>, </a:t>
            </a:r>
            <a:r>
              <a:rPr>
                <a:latin typeface="Courier"/>
              </a:rPr>
              <a:t>""</a:t>
            </a:r>
            <a:r>
              <a:rPr/>
              <a:t>, </a:t>
            </a:r>
            <a:r>
              <a:rPr>
                <a:latin typeface="Courier"/>
              </a:rPr>
              <a:t>0</a:t>
            </a:r>
            <a:r>
              <a:rPr/>
              <a:t>, </a:t>
            </a:r>
            <a:r>
              <a:rPr>
                <a:latin typeface="Courier"/>
              </a:rPr>
              <a:t>None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users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users: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"No users found!"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this runs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Loops — iterate directly</a:t>
            </a:r>
          </a:p>
          <a:p>
            <a:pPr lvl="0" indent="0" marL="0">
              <a:buNone/>
            </a:pPr>
            <a:r>
              <a:rPr/>
              <a:t>Never write </a:t>
            </a:r>
            <a:r>
              <a:rPr>
                <a:latin typeface="Courier"/>
              </a:rPr>
              <a:t>for i in range(len(list))</a:t>
            </a:r>
            <a:r>
              <a:rPr/>
              <a:t>. Iterate over the object itself.</a:t>
            </a:r>
          </a:p>
          <a:p>
            <a:pPr lvl="0" indent="0">
              <a:buNone/>
            </a:pPr>
            <a:r>
              <a:rPr>
                <a:latin typeface="Courier"/>
              </a:rPr>
              <a:t>friends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"Ama"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"Kojo"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"Yaa"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"Kwame"</a:t>
            </a:r>
            <a:r>
              <a:rPr>
                <a:latin typeface="Courier"/>
              </a:rPr>
              <a:t>]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Direct iteration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friend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friends: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f"Invite sent to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friend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Need the index? Use enumerate()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friend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enumerate</a:t>
            </a:r>
            <a:r>
              <a:rPr>
                <a:latin typeface="Courier"/>
              </a:rPr>
              <a:t>(friends):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friend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zip()</a:t>
            </a:r>
            <a:r>
              <a:rPr b="1"/>
              <a:t> — loop two lists together</a:t>
            </a:r>
          </a:p>
          <a:p>
            <a:pPr lvl="0" indent="0" marL="0">
              <a:buNone/>
            </a:pPr>
            <a:r>
              <a:rPr/>
              <a:t>AI data often arrives in separate lists: features in one, labels in another.</a:t>
            </a:r>
          </a:p>
          <a:p>
            <a:pPr lvl="0" indent="0">
              <a:buNone/>
            </a:pPr>
            <a:r>
              <a:rPr>
                <a:latin typeface="Courier"/>
              </a:rPr>
              <a:t>names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"Kwame"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"Ama"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"Yaw"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85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78</a:t>
            </a:r>
            <a:r>
              <a:rPr>
                <a:latin typeface="Courier"/>
              </a:rPr>
              <a:t>]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name, score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zip</a:t>
            </a:r>
            <a:r>
              <a:rPr>
                <a:latin typeface="Courier"/>
              </a:rPr>
              <a:t>(names, scores):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scored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score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zip()</a:t>
            </a:r>
            <a:r>
              <a:rPr sz="2000"/>
              <a:t> stops at the </a:t>
            </a:r>
            <a:r>
              <a:rPr sz="2000" b="1"/>
              <a:t>shortest</a:t>
            </a:r>
            <a:r>
              <a:rPr sz="2000"/>
              <a:t> list. Data is silently lost. Use </a:t>
            </a:r>
            <a:r>
              <a:rPr sz="2000">
                <a:latin typeface="Courier"/>
              </a:rPr>
              <a:t>itertools.zip_longest()</a:t>
            </a:r>
            <a:r>
              <a:rPr sz="2000"/>
              <a:t> if lengths might differ.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 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Python’s replacement for </a:t>
            </a:r>
            <a:r>
              <a:rPr>
                <a:latin typeface="Courier"/>
              </a:rPr>
              <a:t>.map()</a:t>
            </a:r>
            <a:r>
              <a:rPr/>
              <a:t> and </a:t>
            </a:r>
            <a:r>
              <a:rPr>
                <a:latin typeface="Courier"/>
              </a:rPr>
              <a:t>.filter()</a:t>
            </a:r>
            <a:r>
              <a:rPr/>
              <a:t>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syntax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[EXPRESSION for ITEM in SOURCE if CONDITION]</a:t>
            </a:r>
            <a:br/>
            <a:br/>
            <a:r>
              <a:rPr>
                <a:latin typeface="Courier"/>
              </a:rPr>
              <a:t>nums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doubled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[x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nums]            </a:t>
            </a:r>
            <a:r>
              <a:rPr i="1">
                <a:solidFill>
                  <a:srgbClr val="60A0B0"/>
                </a:solidFill>
                <a:latin typeface="Courier"/>
              </a:rPr>
              <a:t># map</a:t>
            </a:r>
            <a:br/>
            <a:r>
              <a:rPr>
                <a:latin typeface="Courier"/>
              </a:rPr>
              <a:t>evens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[x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nums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   </a:t>
            </a:r>
            <a:r>
              <a:rPr i="1">
                <a:solidFill>
                  <a:srgbClr val="60A0B0"/>
                </a:solidFill>
                <a:latin typeface="Courier"/>
              </a:rPr>
              <a:t># filter</a:t>
            </a:r>
            <a:br/>
            <a:r>
              <a:rPr>
                <a:latin typeface="Courier"/>
              </a:rPr>
              <a:t>both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[x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nums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 i="1">
                <a:solidFill>
                  <a:srgbClr val="60A0B0"/>
                </a:solidFill>
                <a:latin typeface="Courier"/>
              </a:rPr>
              <a:t># filter + map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translation pattern</a:t>
            </a:r>
          </a:p>
          <a:p>
            <a:pPr lvl="0" indent="-342900" marL="342900">
              <a:buAutoNum type="arabicPeriod"/>
            </a:pPr>
            <a:r>
              <a:rPr/>
              <a:t>Find what’s being </a:t>
            </a:r>
            <a:r>
              <a:rPr b="1"/>
              <a:t>appended</a:t>
            </a:r>
            <a:r>
              <a:rPr/>
              <a:t> — that’s the expression</a:t>
            </a:r>
          </a:p>
          <a:p>
            <a:pPr lvl="0" indent="-342900" marL="342900">
              <a:buAutoNum type="arabicPeriod"/>
            </a:pPr>
            <a:r>
              <a:rPr/>
              <a:t>Find the </a:t>
            </a:r>
            <a:r>
              <a:rPr b="1"/>
              <a:t>loop</a:t>
            </a:r>
            <a:r>
              <a:rPr/>
              <a:t> — that’s </a:t>
            </a:r>
            <a:r>
              <a:rPr>
                <a:latin typeface="Courier"/>
              </a:rPr>
              <a:t>for ITEM in SOURCE</a:t>
            </a:r>
          </a:p>
          <a:p>
            <a:pPr lvl="0" indent="-342900" marL="342900">
              <a:buAutoNum type="arabicPeriod"/>
            </a:pPr>
            <a:r>
              <a:rPr/>
              <a:t>Find the </a:t>
            </a:r>
            <a:r>
              <a:rPr b="1"/>
              <a:t>if statement</a:t>
            </a:r>
            <a:r>
              <a:rPr/>
              <a:t> — that’s the condition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loop to comprehension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loop:</a:t>
            </a:r>
          </a:p>
          <a:p>
            <a:pPr lvl="0" indent="0">
              <a:buNone/>
            </a:pPr>
            <a:r>
              <a:rPr>
                <a:latin typeface="Courier"/>
              </a:rPr>
              <a:t>celsius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40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fahrenheit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temp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celsius: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temp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converted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temp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br/>
            <a:r>
              <a:rPr>
                <a:latin typeface="Courier"/>
              </a:rPr>
              <a:t>        fahrenheit.append(converted)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comprehension:</a:t>
            </a:r>
          </a:p>
          <a:p>
            <a:pPr lvl="0" indent="0">
              <a:buNone/>
            </a:pPr>
            <a:r>
              <a:rPr>
                <a:latin typeface="Courier"/>
              </a:rPr>
              <a:t>fahrenheit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temp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temp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celsius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temp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br/>
            <a:r>
              <a:rPr>
                <a:latin typeface="Courier"/>
              </a:rPr>
              <a:t>]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it aloud: “Give me </a:t>
            </a:r>
            <a:r>
              <a:rPr>
                <a:latin typeface="Courier"/>
              </a:rPr>
              <a:t>temp * 9/5 + 32</a:t>
            </a:r>
            <a:r>
              <a:rPr/>
              <a:t> </a:t>
            </a:r>
            <a:r>
              <a:rPr b="1"/>
              <a:t>for each</a:t>
            </a:r>
            <a:r>
              <a:rPr/>
              <a:t> </a:t>
            </a:r>
            <a:r>
              <a:rPr>
                <a:latin typeface="Courier"/>
              </a:rPr>
              <a:t>temp</a:t>
            </a:r>
            <a:r>
              <a:rPr/>
              <a:t> </a:t>
            </a:r>
            <a:r>
              <a:rPr b="1"/>
              <a:t>in</a:t>
            </a:r>
            <a:r>
              <a:rPr/>
              <a:t> </a:t>
            </a:r>
            <a:r>
              <a:rPr>
                <a:latin typeface="Courier"/>
              </a:rPr>
              <a:t>celsius</a:t>
            </a:r>
            <a:r>
              <a:rPr/>
              <a:t> </a:t>
            </a:r>
            <a:r>
              <a:rPr b="1"/>
              <a:t>if</a:t>
            </a:r>
            <a:r>
              <a:rPr/>
              <a:t> </a:t>
            </a:r>
            <a:r>
              <a:rPr>
                <a:latin typeface="Courier"/>
              </a:rPr>
              <a:t>temp &gt;= 20</a:t>
            </a:r>
            <a:r>
              <a:rPr/>
              <a:t>.”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use: cleaning user input</a:t>
            </a:r>
          </a:p>
          <a:p>
            <a:pPr lvl="0" indent="0">
              <a:buNone/>
            </a:pPr>
            <a:r>
              <a:rPr>
                <a:latin typeface="Courier"/>
              </a:rPr>
              <a:t>raw_names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 aMa 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  kOjO"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"yAA  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  EVE  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clean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[name.strip().capitalize()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name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raw_names]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['Ama', 'Kojo', 'Yaa', 'Eve']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/>
              <a:t>If a comprehension gets too complex, use a regular loop. Readability beats cleverness.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Default arguments, </a:t>
            </a:r>
            <a:r>
              <a:rPr>
                <a:latin typeface="Courier"/>
              </a:rPr>
              <a:t>*args</a:t>
            </a:r>
            <a:r>
              <a:rPr/>
              <a:t>, and </a:t>
            </a:r>
            <a:r>
              <a:rPr>
                <a:latin typeface="Courier"/>
              </a:rPr>
              <a:t>**kwargs</a:t>
            </a:r>
            <a:r>
              <a:rPr/>
              <a:t>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Default arguments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greet(name, greeting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"Akwaaba"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greeting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!"</a:t>
            </a:r>
            <a:br/>
            <a:br/>
            <a:r>
              <a:rPr>
                <a:latin typeface="Courier"/>
              </a:rPr>
              <a:t>greet(</a:t>
            </a:r>
            <a:r>
              <a:rPr>
                <a:solidFill>
                  <a:srgbClr val="4070A0"/>
                </a:solidFill>
                <a:latin typeface="Courier"/>
              </a:rPr>
              <a:t>"Kofi"</a:t>
            </a:r>
            <a:r>
              <a:rPr>
                <a:latin typeface="Courier"/>
              </a:rPr>
              <a:t>)            </a:t>
            </a:r>
            <a:r>
              <a:rPr i="1">
                <a:solidFill>
                  <a:srgbClr val="60A0B0"/>
                </a:solidFill>
                <a:latin typeface="Courier"/>
              </a:rPr>
              <a:t># "Akwaaba, Kofi!"</a:t>
            </a:r>
            <a:br/>
            <a:r>
              <a:rPr>
                <a:latin typeface="Courier"/>
              </a:rPr>
              <a:t>greet(</a:t>
            </a:r>
            <a:r>
              <a:rPr>
                <a:solidFill>
                  <a:srgbClr val="4070A0"/>
                </a:solidFill>
                <a:latin typeface="Courier"/>
              </a:rPr>
              <a:t>"Kofi"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"Hello"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"Hello, Kofi!"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*args</a:t>
            </a:r>
            <a:r>
              <a:rPr b="1"/>
              <a:t> and </a:t>
            </a:r>
            <a:r>
              <a:rPr b="1">
                <a:latin typeface="Courier"/>
              </a:rPr>
              <a:t>**kwargs</a:t>
            </a:r>
          </a:p>
          <a:p>
            <a:pPr lvl="0" indent="0" marL="0">
              <a:buNone/>
            </a:pPr>
            <a:r>
              <a:rPr/>
              <a:t>AI libraries use these to accept flexible configuration.</a:t>
            </a:r>
          </a:p>
          <a:p>
            <a:pPr lvl="0"/>
            <a:r>
              <a:rPr>
                <a:latin typeface="Courier"/>
              </a:rPr>
              <a:t>*args</a:t>
            </a:r>
            <a:r>
              <a:rPr/>
              <a:t> — extra positional arguments, collected as a </a:t>
            </a:r>
            <a:r>
              <a:rPr b="1"/>
              <a:t>tuple</a:t>
            </a:r>
          </a:p>
          <a:p>
            <a:pPr lvl="0"/>
            <a:r>
              <a:rPr>
                <a:latin typeface="Courier"/>
              </a:rPr>
              <a:t>**kwargs</a:t>
            </a:r>
            <a:r>
              <a:rPr/>
              <a:t> — extra keyword arguments, collected as a </a:t>
            </a:r>
            <a:r>
              <a:rPr b="1"/>
              <a:t>dictionary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build_model(name,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config):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f"Building: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key, value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config.items():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 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build_model(</a:t>
            </a:r>
            <a:r>
              <a:rPr>
                <a:solidFill>
                  <a:srgbClr val="4070A0"/>
                </a:solidFill>
                <a:latin typeface="Courier"/>
              </a:rPr>
              <a:t>"ChatBot"</a:t>
            </a:r>
            <a:r>
              <a:rPr>
                <a:latin typeface="Courier"/>
              </a:rPr>
              <a:t>, layers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, speed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"fast"</a:t>
            </a:r>
            <a:r>
              <a:rPr>
                <a:latin typeface="Courier"/>
              </a:rPr>
              <a:t>, gpu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HuggingFace, PyTorch, and most AI libraries use </a:t>
            </a:r>
            <a:r>
              <a:rPr>
                <a:latin typeface="Courier"/>
              </a:rPr>
              <a:t>**kwargs</a:t>
            </a:r>
            <a:r>
              <a:rPr/>
              <a:t> so you can pass only the settings you care about.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Lambda functions</a:t>
            </a:r>
          </a:p>
          <a:p>
            <a:pPr lvl="0" indent="0" marL="0">
              <a:buNone/>
            </a:pPr>
            <a:r>
              <a:rPr/>
              <a:t>One-line anonymous functions. Python’s version of </a:t>
            </a:r>
            <a:r>
              <a:rPr>
                <a:latin typeface="Courier"/>
              </a:rPr>
              <a:t>(x) =&gt; x * 2</a:t>
            </a:r>
            <a:r>
              <a:rPr/>
              <a:t>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Sorting a list of dicts by a specific key</a:t>
            </a:r>
            <a:br/>
            <a:r>
              <a:rPr>
                <a:latin typeface="Courier"/>
              </a:rPr>
              <a:t>students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"Kwame"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"age"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22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"Ama"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"age"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"Yaw"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"age"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students.sort(key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s: s[</a:t>
            </a:r>
            <a:r>
              <a:rPr>
                <a:solidFill>
                  <a:srgbClr val="4070A0"/>
                </a:solidFill>
                <a:latin typeface="Courier"/>
              </a:rPr>
              <a:t>"age"</a:t>
            </a:r>
            <a:r>
              <a:rPr>
                <a:latin typeface="Courier"/>
              </a:rPr>
              <a:t>])</a:t>
            </a:r>
          </a:p>
          <a:p>
            <a:pPr lvl="0" indent="0" marL="0">
              <a:buNone/>
            </a:pPr>
            <a:r>
              <a:rPr b="1"/>
              <a:t>Rule of thumb:</a:t>
            </a:r>
            <a:r>
              <a:rPr/>
              <a:t> Use lambdas for </a:t>
            </a:r>
            <a:r>
              <a:rPr>
                <a:latin typeface="Courier"/>
              </a:rPr>
              <a:t>key=</a:t>
            </a:r>
            <a:r>
              <a:rPr/>
              <a:t> and </a:t>
            </a:r>
            <a:r>
              <a:rPr>
                <a:latin typeface="Courier"/>
              </a:rPr>
              <a:t>sort()</a:t>
            </a:r>
            <a:r>
              <a:rPr/>
              <a:t>. Use comprehensions for transformations.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Classes and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Bundling data and behavior together.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classes?</a:t>
            </a:r>
          </a:p>
          <a:p>
            <a:pPr lvl="0" indent="0" marL="0">
              <a:buNone/>
            </a:pPr>
            <a:r>
              <a:rPr/>
              <a:t>Without classes, tracking 100 students means 300 scattered variables. With classes, you have a blueprint.</a:t>
            </a:r>
          </a:p>
          <a:p>
            <a:pPr lvl="0"/>
            <a:r>
              <a:rPr b="1"/>
              <a:t>Class</a:t>
            </a:r>
            <a:r>
              <a:rPr/>
              <a:t> = the template (what every student HAS and CAN DO)</a:t>
            </a:r>
          </a:p>
          <a:p>
            <a:pPr lvl="0"/>
            <a:r>
              <a:rPr b="1"/>
              <a:t>Instance</a:t>
            </a:r>
            <a:r>
              <a:rPr/>
              <a:t> = one filled-out form (one real student)</a:t>
            </a:r>
          </a:p>
          <a:p>
            <a:pPr lvl="0"/>
            <a:r>
              <a:rPr b="1"/>
              <a:t>Attribute</a:t>
            </a:r>
            <a:r>
              <a:rPr/>
              <a:t> = a field on the form (name, age, grade)</a:t>
            </a:r>
          </a:p>
          <a:p>
            <a:pPr lvl="0"/>
            <a:r>
              <a:rPr b="1"/>
              <a:t>Method</a:t>
            </a:r>
            <a:r>
              <a:rPr/>
              <a:t> = an action (study, take_exam)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pattern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name):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name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.hunger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bark(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says: Woof!"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play(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.hunger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played! Hunger: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hunger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%"</a:t>
            </a:r>
            <a:br/>
            <a:br/>
            <a:r>
              <a:rPr>
                <a:latin typeface="Courier"/>
              </a:rPr>
              <a:t>rex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Dog(</a:t>
            </a:r>
            <a:r>
              <a:rPr>
                <a:solidFill>
                  <a:srgbClr val="4070A0"/>
                </a:solidFill>
                <a:latin typeface="Courier"/>
              </a:rPr>
              <a:t>"Rex"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fido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Dog(</a:t>
            </a:r>
            <a:r>
              <a:rPr>
                <a:solidFill>
                  <a:srgbClr val="4070A0"/>
                </a:solidFill>
                <a:latin typeface="Courier"/>
              </a:rPr>
              <a:t>"Fido"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rex.play()   </a:t>
            </a:r>
            <a:r>
              <a:rPr i="1">
                <a:solidFill>
                  <a:srgbClr val="60A0B0"/>
                </a:solidFill>
                <a:latin typeface="Courier"/>
              </a:rPr>
              <a:t># Rex's hunger goes to 70</a:t>
            </a:r>
            <a:br/>
            <a:r>
              <a:rPr>
                <a:latin typeface="Courier"/>
              </a:rPr>
              <a:t>fido.hunger  </a:t>
            </a:r>
            <a:r>
              <a:rPr i="1">
                <a:solidFill>
                  <a:srgbClr val="60A0B0"/>
                </a:solidFill>
                <a:latin typeface="Courier"/>
              </a:rPr>
              <a:t># Still 50 — each instance is independent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example: mobile money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MobileMoneyAccount: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owner, phone):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.owner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owner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.phone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phone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.balance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.transactions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deposit(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amount):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.balance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amount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.transactions.append(</a:t>
            </a:r>
            <a:r>
              <a:rPr>
                <a:solidFill>
                  <a:srgbClr val="BB6688"/>
                </a:solidFill>
                <a:latin typeface="Courier"/>
              </a:rPr>
              <a:t>f"Deposited: GHS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amount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withdraw(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amount):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amount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.balance: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"Insufficient funds"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.balance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amount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.transactions.append(</a:t>
            </a:r>
            <a:r>
              <a:rPr>
                <a:solidFill>
                  <a:srgbClr val="BB6688"/>
                </a:solidFill>
                <a:latin typeface="Courier"/>
              </a:rPr>
              <a:t>f"Withdrew: GHS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amount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Each account tracks its own balance and history. Kwame’s deposits don’t touch Ama’s account.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Inheritance</a:t>
            </a:r>
          </a:p>
          <a:p>
            <a:pPr lvl="0" indent="0" marL="0">
              <a:buNone/>
            </a:pPr>
            <a:r>
              <a:rPr/>
              <a:t>Write shared logic once. Children get it for free.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Animal: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name):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name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eat(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is eating."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Cat(Animal):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meow(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says: Meow!"</a:t>
            </a:r>
            <a:br/>
            <a:br/>
            <a:r>
              <a:rPr>
                <a:latin typeface="Courier"/>
              </a:rPr>
              <a:t>whiskers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Cat(</a:t>
            </a:r>
            <a:r>
              <a:rPr>
                <a:solidFill>
                  <a:srgbClr val="4070A0"/>
                </a:solidFill>
                <a:latin typeface="Courier"/>
              </a:rPr>
              <a:t>"Whiskers"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whiskers.eat()   </a:t>
            </a:r>
            <a:r>
              <a:rPr i="1">
                <a:solidFill>
                  <a:srgbClr val="60A0B0"/>
                </a:solidFill>
                <a:latin typeface="Courier"/>
              </a:rPr>
              <a:t># inherited from Animal</a:t>
            </a:r>
            <a:br/>
            <a:r>
              <a:rPr>
                <a:latin typeface="Courier"/>
              </a:rPr>
              <a:t>whiskers.meow()  </a:t>
            </a:r>
            <a:r>
              <a:rPr i="1">
                <a:solidFill>
                  <a:srgbClr val="60A0B0"/>
                </a:solidFill>
                <a:latin typeface="Courier"/>
              </a:rPr>
              <a:t># specific to Cat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AI connection:</a:t>
            </a:r>
            <a:r>
              <a:rPr sz="2000"/>
              <a:t> PyTorch neural networks inherit from </a:t>
            </a:r>
            <a:r>
              <a:rPr sz="2000">
                <a:latin typeface="Courier"/>
              </a:rPr>
              <a:t>nn.Module</a:t>
            </a:r>
            <a:r>
              <a:rPr sz="2000"/>
              <a:t>. You define your layers; the training loop comes from the parent.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JS uses </a:t>
            </a:r>
            <a:r>
              <a:rPr>
                <a:latin typeface="Courier"/>
              </a:rPr>
              <a:t>try...catch</a:t>
            </a:r>
            <a:r>
              <a:rPr/>
              <a:t>. Python uses </a:t>
            </a:r>
            <a:r>
              <a:rPr>
                <a:latin typeface="Courier"/>
              </a:rPr>
              <a:t>try...except</a:t>
            </a:r>
            <a:r>
              <a:rPr/>
              <a:t>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pattern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safe_divide(a, b):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except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ZeroDivisionError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"Cannot divide by zero"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except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TypeError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"Both inputs must be numbers"</a:t>
            </a:r>
            <a:br/>
            <a:br/>
            <a:r>
              <a:rPr>
                <a:latin typeface="Courier"/>
              </a:rPr>
              <a:t>safe_divide(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     </a:t>
            </a:r>
            <a:r>
              <a:rPr i="1">
                <a:solidFill>
                  <a:srgbClr val="60A0B0"/>
                </a:solidFill>
                <a:latin typeface="Courier"/>
              </a:rPr>
              <a:t># 5.0</a:t>
            </a:r>
            <a:br/>
            <a:r>
              <a:rPr>
                <a:latin typeface="Courier"/>
              </a:rPr>
              <a:t>safe_divide(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     </a:t>
            </a:r>
            <a:r>
              <a:rPr i="1">
                <a:solidFill>
                  <a:srgbClr val="60A0B0"/>
                </a:solidFill>
                <a:latin typeface="Courier"/>
              </a:rPr>
              <a:t># "Cannot divide by zero"</a:t>
            </a:r>
            <a:br/>
            <a:r>
              <a:rPr>
                <a:latin typeface="Courier"/>
              </a:rPr>
              <a:t>safe_divide(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"two"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"Both inputs must be numbers"</a:t>
            </a:r>
          </a:p>
          <a:p>
            <a:pPr lvl="0" indent="0" marL="0">
              <a:buNone/>
            </a:pPr>
            <a:r>
              <a:rPr b="1"/>
              <a:t>Why this matters for AI:</a:t>
            </a:r>
            <a:r>
              <a:rPr/>
              <a:t> If you’re processing 10,000 images and image #452 is corrupted, </a:t>
            </a:r>
            <a:r>
              <a:rPr>
                <a:latin typeface="Courier"/>
              </a:rPr>
              <a:t>try...except</a:t>
            </a:r>
            <a:r>
              <a:rPr/>
              <a:t> lets you skip it and keep going instead of crashing the whole pipeline.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Modules and imports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Python file is a module. No </a:t>
            </a:r>
            <a:r>
              <a:rPr>
                <a:latin typeface="Courier"/>
              </a:rPr>
              <a:t>export</a:t>
            </a:r>
            <a:r>
              <a:rPr/>
              <a:t> needed.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 patterns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Import the whole module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math_utils</a:t>
            </a:r>
            <a:br/>
            <a:r>
              <a:rPr>
                <a:latin typeface="Courier"/>
              </a:rPr>
              <a:t>math_utils.calculate()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Import specific functions (like destructuring)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math_utils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calculate</a:t>
            </a:r>
            <a:br/>
            <a:r>
              <a:rPr>
                <a:latin typeface="Courier"/>
              </a:rPr>
              <a:t>calculate()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Alias — standard in data science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</a:t>
            </a:r>
            <a:r>
              <a:rPr b="1">
                <a:latin typeface="Courier"/>
              </a:rPr>
              <a:t>if __name__ == "__main__":</a:t>
            </a:r>
            <a:r>
              <a:rPr b="1"/>
              <a:t> guard</a:t>
            </a:r>
          </a:p>
          <a:p>
            <a:pPr lvl="0" indent="0" marL="0">
              <a:buNone/>
            </a:pPr>
            <a:r>
              <a:rPr/>
              <a:t>Code inside this block only runs when you execute the file directly — not when another file imports it.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main():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"Running directly"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__name__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"__main__"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main()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Package management with </a:t>
            </a:r>
            <a:r>
              <a:rPr b="1">
                <a:latin typeface="Courier"/>
              </a:rPr>
              <a:t>uv</a:t>
            </a:r>
          </a:p>
          <a:p>
            <a:pPr lvl="0" indent="0">
              <a:buNone/>
            </a:pPr>
            <a:r>
              <a:rPr>
                <a:latin typeface="Courier"/>
              </a:rPr>
              <a:t>uv add pandas          </a:t>
            </a:r>
            <a:r>
              <a:rPr i="1">
                <a:solidFill>
                  <a:srgbClr val="60A0B0"/>
                </a:solidFill>
                <a:latin typeface="Courier"/>
              </a:rPr>
              <a:t># install a package</a:t>
            </a:r>
            <a:br/>
            <a:r>
              <a:rPr>
                <a:latin typeface="Courier"/>
              </a:rPr>
              <a:t>uv sync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install all project dependencies</a:t>
            </a:r>
            <a:br/>
            <a:r>
              <a:rPr>
                <a:latin typeface="Courier"/>
              </a:rPr>
              <a:t>uv run python script.py  </a:t>
            </a:r>
            <a:r>
              <a:rPr i="1">
                <a:solidFill>
                  <a:srgbClr val="60A0B0"/>
                </a:solidFill>
                <a:latin typeface="Courier"/>
              </a:rPr>
              <a:t># run with project environment</a:t>
            </a:r>
          </a:p>
          <a:p>
            <a:pPr lvl="0" indent="0" marL="0">
              <a:buNone/>
            </a:pPr>
            <a:r>
              <a:rPr/>
              <a:t>No more </a:t>
            </a:r>
            <a:r>
              <a:rPr>
                <a:latin typeface="Courier"/>
              </a:rPr>
              <a:t>pip install</a:t>
            </a:r>
            <a:r>
              <a:rPr/>
              <a:t> confusion. </a:t>
            </a:r>
            <a:r>
              <a:rPr>
                <a:latin typeface="Courier"/>
              </a:rPr>
              <a:t>uv</a:t>
            </a:r>
            <a:r>
              <a:rPr/>
              <a:t> handles virtual environments, dependency resolution, and lockfiles.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learned in three lessons.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full picture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Lesson 1: Data structures</a:t>
            </a:r>
          </a:p>
          <a:p>
            <a:pPr lvl="0"/>
            <a:r>
              <a:rPr/>
              <a:t>Lists (mutable, ordered)</a:t>
            </a:r>
          </a:p>
          <a:p>
            <a:pPr lvl="0"/>
            <a:r>
              <a:rPr/>
              <a:t>Tuples (immutable)</a:t>
            </a:r>
          </a:p>
          <a:p>
            <a:pPr lvl="0"/>
            <a:r>
              <a:rPr/>
              <a:t>Dictionaries (key-value)</a:t>
            </a:r>
          </a:p>
          <a:p>
            <a:pPr lvl="0"/>
            <a:r>
              <a:rPr/>
              <a:t>Sets (unique, unordered)</a:t>
            </a:r>
          </a:p>
          <a:p>
            <a:pPr lvl="0"/>
            <a:r>
              <a:rPr/>
              <a:t>F-strings, type hints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Lesson 2: Control flow</a:t>
            </a:r>
          </a:p>
          <a:p>
            <a:pPr lvl="0"/>
            <a:r>
              <a:rPr>
                <a:latin typeface="Courier"/>
              </a:rPr>
              <a:t>if</a:t>
            </a:r>
            <a:r>
              <a:rPr/>
              <a:t> / </a:t>
            </a:r>
            <a:r>
              <a:rPr>
                <a:latin typeface="Courier"/>
              </a:rPr>
              <a:t>elif</a:t>
            </a:r>
            <a:r>
              <a:rPr/>
              <a:t> / </a:t>
            </a:r>
            <a:r>
              <a:rPr>
                <a:latin typeface="Courier"/>
              </a:rPr>
              <a:t>else</a:t>
            </a:r>
          </a:p>
          <a:p>
            <a:pPr lvl="0"/>
            <a:r>
              <a:rPr>
                <a:latin typeface="Courier"/>
              </a:rPr>
              <a:t>for...in</a:t>
            </a:r>
            <a:r>
              <a:rPr/>
              <a:t>, </a:t>
            </a:r>
            <a:r>
              <a:rPr>
                <a:latin typeface="Courier"/>
              </a:rPr>
              <a:t>enumerate()</a:t>
            </a:r>
            <a:r>
              <a:rPr/>
              <a:t>, </a:t>
            </a:r>
            <a:r>
              <a:rPr>
                <a:latin typeface="Courier"/>
              </a:rPr>
              <a:t>zip()</a:t>
            </a:r>
          </a:p>
          <a:p>
            <a:pPr lvl="0"/>
            <a:r>
              <a:rPr/>
              <a:t>List comprehensions</a:t>
            </a:r>
          </a:p>
          <a:p>
            <a:pPr lvl="0"/>
            <a:r>
              <a:rPr/>
              <a:t>Functions with </a:t>
            </a:r>
            <a:r>
              <a:rPr>
                <a:latin typeface="Courier"/>
              </a:rPr>
              <a:t>*args</a:t>
            </a:r>
            <a:r>
              <a:rPr/>
              <a:t>, </a:t>
            </a:r>
            <a:r>
              <a:rPr>
                <a:latin typeface="Courier"/>
              </a:rPr>
              <a:t>**kwargs</a:t>
            </a:r>
          </a:p>
          <a:p>
            <a:pPr lvl="0"/>
            <a:r>
              <a:rPr/>
              <a:t>Lambda functions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Lesson 3: Architecture</a:t>
            </a:r>
          </a:p>
          <a:p>
            <a:pPr lvl="0"/>
            <a:r>
              <a:rPr/>
              <a:t>Classes, </a:t>
            </a:r>
            <a:r>
              <a:rPr>
                <a:latin typeface="Courier"/>
              </a:rPr>
              <a:t>self</a:t>
            </a:r>
            <a:r>
              <a:rPr/>
              <a:t>, </a:t>
            </a:r>
            <a:r>
              <a:rPr>
                <a:latin typeface="Courier"/>
              </a:rPr>
              <a:t>__init__</a:t>
            </a:r>
            <a:r>
              <a:rPr/>
              <a:t>, inheritance</a:t>
            </a:r>
          </a:p>
          <a:p>
            <a:pPr lvl="0"/>
            <a:r>
              <a:rPr/>
              <a:t>Error handling with </a:t>
            </a:r>
            <a:r>
              <a:rPr>
                <a:latin typeface="Courier"/>
              </a:rPr>
              <a:t>try...except</a:t>
            </a:r>
          </a:p>
          <a:p>
            <a:pPr lvl="0"/>
            <a:r>
              <a:rPr/>
              <a:t>Modules, imports, aliases</a:t>
            </a:r>
          </a:p>
          <a:p>
            <a:pPr lvl="0"/>
            <a:r>
              <a:rPr/>
              <a:t>The </a:t>
            </a:r>
            <a:r>
              <a:rPr>
                <a:latin typeface="Courier"/>
              </a:rPr>
              <a:t>if __name__ == "__main__"</a:t>
            </a:r>
            <a:r>
              <a:rPr/>
              <a:t> guard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rules to carry forward</a:t>
            </a:r>
          </a:p>
          <a:p>
            <a:pPr lvl="0" indent="-342900" marL="342900">
              <a:buAutoNum type="arabicPeriod"/>
            </a:pPr>
            <a:r>
              <a:rPr b="1"/>
              <a:t>Iterate directly</a:t>
            </a:r>
            <a:r>
              <a:rPr/>
              <a:t> — never </a:t>
            </a:r>
            <a:r>
              <a:rPr>
                <a:latin typeface="Courier"/>
              </a:rPr>
              <a:t>for i in range(len(list))</a:t>
            </a:r>
          </a:p>
          <a:p>
            <a:pPr lvl="0" indent="-342900" marL="342900">
              <a:buAutoNum type="arabicPeriod"/>
            </a:pPr>
            <a:r>
              <a:rPr b="1"/>
              <a:t>Comprehensions over loops</a:t>
            </a:r>
            <a:r>
              <a:rPr/>
              <a:t> — but keep them readable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**kwargs</a:t>
            </a:r>
            <a:r>
              <a:rPr b="1"/>
              <a:t> is everywhere</a:t>
            </a:r>
            <a:r>
              <a:rPr/>
              <a:t> — especially in AI libraries</a:t>
            </a:r>
          </a:p>
          <a:p>
            <a:pPr lvl="0" indent="-342900" marL="342900">
              <a:buAutoNum type="arabicPeriod"/>
            </a:pPr>
            <a:r>
              <a:rPr b="1"/>
              <a:t>Empty collections are falsy</a:t>
            </a:r>
            <a:r>
              <a:rPr/>
              <a:t> — use </a:t>
            </a:r>
            <a:r>
              <a:rPr>
                <a:latin typeface="Courier"/>
              </a:rPr>
              <a:t>if not users:</a:t>
            </a:r>
            <a:r>
              <a:rPr/>
              <a:t> not </a:t>
            </a:r>
            <a:r>
              <a:rPr>
                <a:latin typeface="Courier"/>
              </a:rPr>
              <a:t>if len(users) == 0: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self</a:t>
            </a:r>
            <a:r>
              <a:rPr b="1"/>
              <a:t> is not magic</a:t>
            </a:r>
            <a:r>
              <a:rPr/>
              <a:t> — it’s just “which instance am I?”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next</a:t>
            </a:r>
          </a:p>
          <a:p>
            <a:pPr lvl="0" indent="0" marL="0">
              <a:buNone/>
            </a:pPr>
            <a:r>
              <a:rPr b="1"/>
              <a:t>Module 4: Data analysis with Pandas</a:t>
            </a:r>
          </a:p>
          <a:p>
            <a:pPr lvl="0"/>
            <a:r>
              <a:rPr/>
              <a:t>DataFrames — the spreadsheet you can code against</a:t>
            </a:r>
          </a:p>
          <a:p>
            <a:pPr lvl="0"/>
            <a:r>
              <a:rPr/>
              <a:t>Cleaning, filtering, grouping real datasets</a:t>
            </a:r>
          </a:p>
          <a:p>
            <a:pPr lvl="0"/>
            <a:r>
              <a:rPr/>
              <a:t>Building on everything from this module</a:t>
            </a:r>
          </a:p>
          <a:p>
            <a:pPr lvl="0" indent="0" marL="0">
              <a:buNone/>
            </a:pPr>
            <a:r>
              <a:rPr/>
              <a:t>You now write Python. Time to do something with it.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8FAFC"/>
      </a:lt1>
      <a:dk2>
        <a:srgbClr val="004367"/>
      </a:dk2>
      <a:lt2>
        <a:srgbClr val="FFFFFF"/>
      </a:lt2>
      <a:accent1>
        <a:srgbClr val="004367"/>
      </a:accent1>
      <a:accent2>
        <a:srgbClr val="56A09A"/>
      </a:accent2>
      <a:accent3>
        <a:srgbClr val="31BAE9"/>
      </a:accent3>
      <a:accent4>
        <a:srgbClr val="8064A2"/>
      </a:accent4>
      <a:accent5>
        <a:srgbClr val="4BACC6"/>
      </a:accent5>
      <a:accent6>
        <a:srgbClr val="F79646"/>
      </a:accent6>
      <a:hlink>
        <a:srgbClr val="56A09A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Full-Stack Developers</dc:title>
  <dc:creator>Speedykom Group GmbH</dc:creator>
  <cp:keywords/>
  <dcterms:created xsi:type="dcterms:W3CDTF">2026-04-10T17:09:49Z</dcterms:created>
  <dcterms:modified xsi:type="dcterms:W3CDTF">2026-04-10T17:09:49Z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jupyter">
    <vt:lpwstr>python3</vt:lpwstr>
  </property>
  <property fmtid="{D5CDD505-2E9C-101B-9397-08002B2CF9AE}" pid="11" name="labels">
    <vt:lpwstr/>
  </property>
  <property fmtid="{D5CDD505-2E9C-101B-9397-08002B2CF9AE}" pid="12" name="subtitle">
    <vt:lpwstr>From JavaScript to Python — the fast track</vt:lpwstr>
  </property>
  <property fmtid="{D5CDD505-2E9C-101B-9397-08002B2CF9AE}" pid="13" name="toc-title">
    <vt:lpwstr>Table of contents</vt:lpwstr>
  </property>
</Properties>
</file>