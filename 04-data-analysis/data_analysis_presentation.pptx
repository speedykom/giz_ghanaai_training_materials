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7" Type="http://schemas.openxmlformats.org/officeDocument/2006/relationships/viewProps" Target="viewProps.xml" /><Relationship Id="rId4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9" Type="http://schemas.openxmlformats.org/officeDocument/2006/relationships/tableStyles" Target="tableStyles.xml" /><Relationship Id="rId4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Analysis with Pandas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raw data to model-ready pipelines</a:t>
            </a:r>
            <a:br/>
            <a:br/>
            <a:r>
              <a:rPr/>
              <a:t>Speedykom Group GmbH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Pandas?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processed data in JavaScript with </a:t>
            </a:r>
            <a:r>
              <a:rPr>
                <a:latin typeface="Courier"/>
              </a:rPr>
              <a:t>.map()</a:t>
            </a:r>
            <a:r>
              <a:rPr/>
              <a:t> and </a:t>
            </a:r>
            <a:r>
              <a:rPr>
                <a:latin typeface="Courier"/>
              </a:rPr>
              <a:t>.filter()</a:t>
            </a:r>
            <a:r>
              <a:rPr/>
              <a:t>. Pandas does the same thing — 100x faster, on millions of rows.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JS vs. Pandas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JavaScript: slow, visits each element one by one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let</a:t>
            </a:r>
            <a:r>
              <a:rPr>
                <a:latin typeface="Courier"/>
              </a:rPr>
              <a:t> total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prices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forEach</a:t>
            </a:r>
            <a:r>
              <a:rPr>
                <a:latin typeface="Courier"/>
              </a:rPr>
              <a:t>(price </a:t>
            </a:r>
            <a:r>
              <a:rPr b="1">
                <a:solidFill>
                  <a:srgbClr val="007020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total </a:t>
            </a:r>
            <a:r>
              <a:rPr>
                <a:solidFill>
                  <a:srgbClr val="666666"/>
                </a:solidFill>
                <a:latin typeface="Courier"/>
              </a:rPr>
              <a:t>+=</a:t>
            </a:r>
            <a:r>
              <a:rPr>
                <a:latin typeface="Courier"/>
              </a:rPr>
              <a:t> price)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Pandas: vectorized, entire column processed at CPU level</a:t>
            </a:r>
            <a:br/>
            <a:r>
              <a:rPr>
                <a:latin typeface="Courier"/>
              </a:rPr>
              <a:t>total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df[</a:t>
            </a:r>
            <a:r>
              <a:rPr>
                <a:solidFill>
                  <a:srgbClr val="4070A0"/>
                </a:solidFill>
                <a:latin typeface="Courier"/>
              </a:rPr>
              <a:t>'price'</a:t>
            </a:r>
            <a:r>
              <a:rPr>
                <a:latin typeface="Courier"/>
              </a:rPr>
              <a:t>].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Three advantages over JS arrays:</a:t>
            </a:r>
          </a:p>
          <a:p>
            <a:pPr lvl="0"/>
            <a:r>
              <a:rPr b="1"/>
              <a:t>Vectorization</a:t>
            </a:r>
            <a:r>
              <a:rPr/>
              <a:t> — operations run on whole columns, not row by row</a:t>
            </a:r>
          </a:p>
          <a:p>
            <a:pPr lvl="0"/>
            <a:r>
              <a:rPr b="1"/>
              <a:t>Memory efficiency</a:t>
            </a:r>
            <a:r>
              <a:rPr/>
              <a:t> — optimized dtypes (</a:t>
            </a:r>
            <a:r>
              <a:rPr>
                <a:latin typeface="Courier"/>
              </a:rPr>
              <a:t>int8</a:t>
            </a:r>
            <a:r>
              <a:rPr/>
              <a:t>, </a:t>
            </a:r>
            <a:r>
              <a:rPr>
                <a:latin typeface="Courier"/>
              </a:rPr>
              <a:t>category</a:t>
            </a:r>
            <a:r>
              <a:rPr/>
              <a:t>) cut memory 90%</a:t>
            </a:r>
          </a:p>
          <a:p>
            <a:pPr lvl="0"/>
            <a:r>
              <a:rPr b="1"/>
              <a:t>Reproducibility</a:t>
            </a:r>
            <a:r>
              <a:rPr/>
              <a:t> — every step is scripted, auditable, version-controlled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Series and DataFrames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two core objects.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Series — a single column</a:t>
            </a:r>
          </a:p>
          <a:p>
            <a:pPr lvl="0" indent="0" marL="0">
              <a:buNone/>
            </a:pPr>
            <a:r>
              <a:rPr/>
              <a:t>A labeled one-dimensional array. Think of it as one column from a database table.</a:t>
            </a:r>
          </a:p>
          <a:p>
            <a:pPr lvl="0" indent="0">
              <a:buNone/>
            </a:pPr>
            <a:r>
              <a:rPr>
                <a:latin typeface="Courier"/>
              </a:rPr>
              <a:t>momo_volumes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pd.Series(</a:t>
            </a:r>
            <a:br/>
            <a:r>
              <a:rPr>
                <a:latin typeface="Courier"/>
              </a:rPr>
              <a:t>    data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1500000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2300000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1800000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2100000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index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'MTN'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'Vodafone'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'AirtelTigo'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'Telecel'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name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'monthly_transactions'</a:t>
            </a:r>
            <a:br/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momo_volumes.</a:t>
            </a:r>
            <a:r>
              <a:rPr>
                <a:solidFill>
                  <a:srgbClr val="008000"/>
                </a:solidFill>
                <a:latin typeface="Courier"/>
              </a:rPr>
              <a:t>sum</a:t>
            </a:r>
            <a:r>
              <a:rPr>
                <a:latin typeface="Courier"/>
              </a:rPr>
              <a:t>()    </a:t>
            </a:r>
            <a:r>
              <a:rPr i="1">
                <a:solidFill>
                  <a:srgbClr val="60A0B0"/>
                </a:solidFill>
                <a:latin typeface="Courier"/>
              </a:rPr>
              <a:t># 7700000</a:t>
            </a:r>
            <a:br/>
            <a:r>
              <a:rPr>
                <a:latin typeface="Courier"/>
              </a:rPr>
              <a:t>momo_volumes.dtype    </a:t>
            </a:r>
            <a:r>
              <a:rPr i="1">
                <a:solidFill>
                  <a:srgbClr val="60A0B0"/>
                </a:solidFill>
                <a:latin typeface="Courier"/>
              </a:rPr>
              <a:t># int64</a:t>
            </a:r>
          </a:p>
          <a:p>
            <a:pPr lvl="0" indent="0" marL="0">
              <a:buNone/>
            </a:pPr>
            <a:r>
              <a:rPr/>
              <a:t>Key attributes: </a:t>
            </a:r>
            <a:r>
              <a:rPr>
                <a:latin typeface="Courier"/>
              </a:rPr>
              <a:t>.values</a:t>
            </a:r>
            <a:r>
              <a:rPr/>
              <a:t>, </a:t>
            </a:r>
            <a:r>
              <a:rPr>
                <a:latin typeface="Courier"/>
              </a:rPr>
              <a:t>.index</a:t>
            </a:r>
            <a:r>
              <a:rPr/>
              <a:t>, </a:t>
            </a:r>
            <a:r>
              <a:rPr>
                <a:latin typeface="Courier"/>
              </a:rPr>
              <a:t>.name</a:t>
            </a:r>
            <a:r>
              <a:rPr/>
              <a:t>, </a:t>
            </a:r>
            <a:r>
              <a:rPr>
                <a:latin typeface="Courier"/>
              </a:rPr>
              <a:t>.dtype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DataFrame — the table</a:t>
            </a:r>
          </a:p>
          <a:p>
            <a:pPr lvl="0" indent="0" marL="0">
              <a:buNone/>
            </a:pPr>
            <a:r>
              <a:rPr/>
              <a:t>A dictionary of columns becomes a DataFrame. Each key is a column name.</a:t>
            </a:r>
          </a:p>
          <a:p>
            <a:pPr lvl="0" indent="0">
              <a:buNone/>
            </a:pPr>
            <a:r>
              <a:rPr>
                <a:latin typeface="Courier"/>
              </a:rPr>
              <a:t>startup_dict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"company"</a:t>
            </a:r>
            <a:r>
              <a:rPr>
                <a:latin typeface="Courier"/>
              </a:rPr>
              <a:t>: [</a:t>
            </a:r>
            <a:r>
              <a:rPr>
                <a:solidFill>
                  <a:srgbClr val="4070A0"/>
                </a:solidFill>
                <a:latin typeface="Courier"/>
              </a:rPr>
              <a:t>"Hubtel"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"Zeepay"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"Jetstream"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"Farmerline"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"sector"</a:t>
            </a:r>
            <a:r>
              <a:rPr>
                <a:latin typeface="Courier"/>
              </a:rPr>
              <a:t>: [</a:t>
            </a:r>
            <a:r>
              <a:rPr>
                <a:solidFill>
                  <a:srgbClr val="4070A0"/>
                </a:solidFill>
                <a:latin typeface="Courier"/>
              </a:rPr>
              <a:t>"FinTech"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"FinTech"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"E-commerce"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"AgriTech"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"employees"</a:t>
            </a:r>
            <a:r>
              <a:rPr>
                <a:latin typeface="Courier"/>
              </a:rPr>
              <a:t>: [</a:t>
            </a:r>
            <a:r>
              <a:rPr>
                <a:solidFill>
                  <a:srgbClr val="40A070"/>
                </a:solidFill>
                <a:latin typeface="Courier"/>
              </a:rPr>
              <a:t>250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180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120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95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"funding_usd_millions"</a:t>
            </a:r>
            <a:r>
              <a:rPr>
                <a:latin typeface="Courier"/>
              </a:rPr>
              <a:t>: [</a:t>
            </a:r>
            <a:r>
              <a:rPr>
                <a:solidFill>
                  <a:srgbClr val="40A070"/>
                </a:solidFill>
                <a:latin typeface="Courier"/>
              </a:rPr>
              <a:t>12.5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8.0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5.2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3.8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pd.DataFrame(startup_dict)</a:t>
            </a:r>
          </a:p>
          <a:p>
            <a:pPr lvl="0" indent="0" marL="0">
              <a:buNone/>
            </a:pPr>
            <a:r>
              <a:rPr/>
              <a:t>You can also create DataFrames from:</a:t>
            </a:r>
          </a:p>
          <a:p>
            <a:pPr lvl="0"/>
            <a:r>
              <a:rPr b="1"/>
              <a:t>List of dicts</a:t>
            </a:r>
            <a:r>
              <a:rPr/>
              <a:t> (JSON/API format)</a:t>
            </a:r>
          </a:p>
          <a:p>
            <a:pPr lvl="0"/>
            <a:r>
              <a:rPr b="1"/>
              <a:t>List of lists</a:t>
            </a:r>
            <a:r>
              <a:rPr/>
              <a:t> (with a </a:t>
            </a:r>
            <a:r>
              <a:rPr>
                <a:latin typeface="Courier"/>
              </a:rPr>
              <a:t>columns=</a:t>
            </a:r>
            <a:r>
              <a:rPr/>
              <a:t> argument)</a:t>
            </a:r>
          </a:p>
          <a:p>
            <a:pPr lvl="0"/>
            <a:r>
              <a:rPr b="1"/>
              <a:t>CSV files</a:t>
            </a:r>
            <a:r>
              <a:rPr/>
              <a:t> via </a:t>
            </a:r>
            <a:r>
              <a:rPr>
                <a:latin typeface="Courier"/>
              </a:rPr>
              <a:t>pd.read_csv()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Reading and writing files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Read a CSV (most common)</a:t>
            </a:r>
            <a:br/>
            <a:r>
              <a:rPr>
                <a:latin typeface="Courier"/>
              </a:rPr>
              <a:t>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pd.read_csv(</a:t>
            </a:r>
            <a:r>
              <a:rPr>
                <a:solidFill>
                  <a:srgbClr val="4070A0"/>
                </a:solidFill>
                <a:latin typeface="Courier"/>
              </a:rPr>
              <a:t>"data.csv"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Read a TSV</a:t>
            </a:r>
            <a:br/>
            <a:r>
              <a:rPr>
                <a:latin typeface="Courier"/>
              </a:rPr>
              <a:t>df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pd.read_csv(</a:t>
            </a:r>
            <a:r>
              <a:rPr>
                <a:solidFill>
                  <a:srgbClr val="4070A0"/>
                </a:solidFill>
                <a:latin typeface="Courier"/>
              </a:rPr>
              <a:t>"data.tsv"</a:t>
            </a:r>
            <a:r>
              <a:rPr>
                <a:latin typeface="Courier"/>
              </a:rPr>
              <a:t>, sep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'\t'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Save — index=False prevents an extra row number column</a:t>
            </a:r>
            <a:br/>
            <a:r>
              <a:rPr>
                <a:latin typeface="Courier"/>
              </a:rPr>
              <a:t>df.to_csv(</a:t>
            </a:r>
            <a:r>
              <a:rPr>
                <a:solidFill>
                  <a:srgbClr val="4070A0"/>
                </a:solidFill>
                <a:latin typeface="Courier"/>
              </a:rPr>
              <a:t>"processed.csv"</a:t>
            </a:r>
            <a:r>
              <a:rPr>
                <a:latin typeface="Courier"/>
              </a:rPr>
              <a:t>, index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For production AI pipelines, use </a:t>
            </a:r>
            <a:r>
              <a:rPr sz="2000" b="1"/>
              <a:t>Parquet</a:t>
            </a:r>
            <a:r>
              <a:rPr sz="2000"/>
              <a:t> instead of CSV. It’s compressed, faster, and preserves column types.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Attributes vs. 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OOP mental model for Pandas.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Attributes — no parentheses</a:t>
            </a:r>
          </a:p>
          <a:p>
            <a:pPr lvl="0" indent="0" marL="0">
              <a:buNone/>
            </a:pPr>
            <a:r>
              <a:rPr/>
              <a:t>Properties that describe the DataFrame. They don’t change anything.</a:t>
            </a:r>
          </a:p>
          <a:p>
            <a:pPr lvl="0" indent="0">
              <a:buNone/>
            </a:pPr>
            <a:r>
              <a:rPr>
                <a:latin typeface="Courier"/>
              </a:rPr>
              <a:t>df.shape       </a:t>
            </a:r>
            <a:r>
              <a:rPr i="1">
                <a:solidFill>
                  <a:srgbClr val="60A0B0"/>
                </a:solidFill>
                <a:latin typeface="Courier"/>
              </a:rPr>
              <a:t># (4, 4) — rows, columns</a:t>
            </a:r>
            <a:br/>
            <a:r>
              <a:rPr>
                <a:latin typeface="Courier"/>
              </a:rPr>
              <a:t>df.columns     </a:t>
            </a:r>
            <a:r>
              <a:rPr i="1">
                <a:solidFill>
                  <a:srgbClr val="60A0B0"/>
                </a:solidFill>
                <a:latin typeface="Courier"/>
              </a:rPr>
              <a:t># column names</a:t>
            </a:r>
            <a:br/>
            <a:r>
              <a:rPr>
                <a:latin typeface="Courier"/>
              </a:rPr>
              <a:t>df.dtypes      </a:t>
            </a:r>
            <a:r>
              <a:rPr i="1">
                <a:solidFill>
                  <a:srgbClr val="60A0B0"/>
                </a:solidFill>
                <a:latin typeface="Courier"/>
              </a:rPr>
              <a:t># data type of each column</a:t>
            </a:r>
            <a:br/>
            <a:r>
              <a:rPr>
                <a:latin typeface="Courier"/>
              </a:rPr>
              <a:t>df.index       </a:t>
            </a:r>
            <a:r>
              <a:rPr i="1">
                <a:solidFill>
                  <a:srgbClr val="60A0B0"/>
                </a:solidFill>
                <a:latin typeface="Courier"/>
              </a:rPr>
              <a:t># row labels</a:t>
            </a:r>
          </a:p>
          <a:p>
            <a:pPr lvl="0" indent="0" marL="0">
              <a:buNone/>
            </a:pPr>
            <a:r>
              <a:rPr b="1"/>
              <a:t>Always check </a:t>
            </a:r>
            <a:r>
              <a:rPr b="1">
                <a:latin typeface="Courier"/>
              </a:rPr>
              <a:t>.dtypes</a:t>
            </a:r>
            <a:r>
              <a:rPr b="1"/>
              <a:t> early.</a:t>
            </a:r>
            <a:r>
              <a:rPr/>
              <a:t> If a numeric column shows </a:t>
            </a:r>
            <a:r>
              <a:rPr>
                <a:latin typeface="Courier"/>
              </a:rPr>
              <a:t>object</a:t>
            </a:r>
            <a:r>
              <a:rPr/>
              <a:t>, you have strings mixed in.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Methods — with parentheses</a:t>
            </a:r>
          </a:p>
          <a:p>
            <a:pPr lvl="0" indent="0" marL="0">
              <a:buNone/>
            </a:pPr>
            <a:r>
              <a:rPr/>
              <a:t>Actions that inspect or transform the data.</a:t>
            </a:r>
          </a:p>
          <a:p>
            <a:pPr lvl="0" indent="0">
              <a:buNone/>
            </a:pPr>
            <a:r>
              <a:rPr>
                <a:latin typeface="Courier"/>
              </a:rPr>
              <a:t>df.head(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          </a:t>
            </a:r>
            <a:r>
              <a:rPr i="1">
                <a:solidFill>
                  <a:srgbClr val="60A0B0"/>
                </a:solidFill>
                <a:latin typeface="Courier"/>
              </a:rPr>
              <a:t># first 2 rows</a:t>
            </a:r>
            <a:br/>
            <a:r>
              <a:rPr>
                <a:latin typeface="Courier"/>
              </a:rPr>
              <a:t>df.describe()       </a:t>
            </a:r>
            <a:r>
              <a:rPr i="1">
                <a:solidFill>
                  <a:srgbClr val="60A0B0"/>
                </a:solidFill>
                <a:latin typeface="Courier"/>
              </a:rPr>
              <a:t># statistical summary</a:t>
            </a:r>
            <a:br/>
            <a:r>
              <a:rPr>
                <a:latin typeface="Courier"/>
              </a:rPr>
              <a:t>df.info()           </a:t>
            </a:r>
            <a:r>
              <a:rPr i="1">
                <a:solidFill>
                  <a:srgbClr val="60A0B0"/>
                </a:solidFill>
                <a:latin typeface="Courier"/>
              </a:rPr>
              <a:t># structure overview</a:t>
            </a:r>
            <a:br/>
            <a:r>
              <a:rPr>
                <a:latin typeface="Courier"/>
              </a:rPr>
              <a:t>df.sort_values(</a:t>
            </a:r>
            <a:r>
              <a:rPr>
                <a:solidFill>
                  <a:srgbClr val="4070A0"/>
                </a:solidFill>
                <a:latin typeface="Courier"/>
              </a:rPr>
              <a:t>'funding_usd_millions'</a:t>
            </a:r>
            <a:r>
              <a:rPr>
                <a:latin typeface="Courier"/>
              </a:rPr>
              <a:t>, ascending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df.assign(age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2025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df[</a:t>
            </a:r>
            <a:r>
              <a:rPr>
                <a:solidFill>
                  <a:srgbClr val="4070A0"/>
                </a:solidFill>
                <a:latin typeface="Courier"/>
              </a:rPr>
              <a:t>'founded_year'</a:t>
            </a:r>
            <a:r>
              <a:rPr>
                <a:latin typeface="Courier"/>
              </a:rPr>
              <a:t>])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Method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single most important pattern in this module.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anti-pattern: variable soup</a:t>
            </a:r>
          </a:p>
          <a:p>
            <a:pPr lvl="0" indent="0">
              <a:buNone/>
            </a:pPr>
            <a:r>
              <a:rPr>
                <a:latin typeface="Courier"/>
              </a:rPr>
              <a:t>df1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sample_df.copy()</a:t>
            </a:r>
            <a:br/>
            <a:r>
              <a:rPr>
                <a:latin typeface="Courier"/>
              </a:rPr>
              <a:t>df2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df1.dropna()</a:t>
            </a:r>
            <a:br/>
            <a:r>
              <a:rPr>
                <a:latin typeface="Courier"/>
              </a:rPr>
              <a:t>df3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df2[df2[</a:t>
            </a:r>
            <a:r>
              <a:rPr>
                <a:solidFill>
                  <a:srgbClr val="4070A0"/>
                </a:solidFill>
                <a:latin typeface="Courier"/>
              </a:rPr>
              <a:t>'amount'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df4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df3.assign(vat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df3[</a:t>
            </a:r>
            <a:r>
              <a:rPr>
                <a:solidFill>
                  <a:srgbClr val="4070A0"/>
                </a:solidFill>
                <a:latin typeface="Courier"/>
              </a:rPr>
              <a:t>'amount'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0.125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df5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df4.sort_values(</a:t>
            </a:r>
            <a:r>
              <a:rPr>
                <a:solidFill>
                  <a:srgbClr val="4070A0"/>
                </a:solidFill>
                <a:latin typeface="Courier"/>
              </a:rPr>
              <a:t>'amount'</a:t>
            </a:r>
            <a:r>
              <a:rPr>
                <a:latin typeface="Courier"/>
              </a:rPr>
              <a:t>, ascending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Five variables. Five copies of the data. Hard to debug. Breaks when you run cells out of order.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professional pattern: one pipeline</a:t>
            </a:r>
          </a:p>
          <a:p>
            <a:pPr lvl="0" indent="0">
              <a:buNone/>
            </a:pPr>
            <a:r>
              <a:rPr>
                <a:latin typeface="Courier"/>
              </a:rPr>
              <a:t>processed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br/>
            <a:r>
              <a:rPr>
                <a:latin typeface="Courier"/>
              </a:rPr>
              <a:t>    sample_df</a:t>
            </a:r>
            <a:br/>
            <a:r>
              <a:rPr>
                <a:latin typeface="Courier"/>
              </a:rPr>
              <a:t>    .dropna(subset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'amount'</a:t>
            </a:r>
            <a:r>
              <a:rPr>
                <a:latin typeface="Courier"/>
              </a:rPr>
              <a:t>])</a:t>
            </a:r>
            <a:br/>
            <a:r>
              <a:rPr>
                <a:latin typeface="Courier"/>
              </a:rPr>
              <a:t>    .query(</a:t>
            </a:r>
            <a:r>
              <a:rPr>
                <a:solidFill>
                  <a:srgbClr val="4070A0"/>
                </a:solidFill>
                <a:latin typeface="Courier"/>
              </a:rPr>
              <a:t>'amount &gt; 0'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.assign(</a:t>
            </a:r>
            <a:br/>
            <a:r>
              <a:rPr>
                <a:latin typeface="Courier"/>
              </a:rPr>
              <a:t>        vat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x: x[</a:t>
            </a:r>
            <a:r>
              <a:rPr>
                <a:solidFill>
                  <a:srgbClr val="4070A0"/>
                </a:solidFill>
                <a:latin typeface="Courier"/>
              </a:rPr>
              <a:t>'amount'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0.125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total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x: x[</a:t>
            </a:r>
            <a:r>
              <a:rPr>
                <a:solidFill>
                  <a:srgbClr val="4070A0"/>
                </a:solidFill>
                <a:latin typeface="Courier"/>
              </a:rPr>
              <a:t>'amount'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x[</a:t>
            </a:r>
            <a:r>
              <a:rPr>
                <a:solidFill>
                  <a:srgbClr val="4070A0"/>
                </a:solidFill>
                <a:latin typeface="Courier"/>
              </a:rPr>
              <a:t>'vat'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    )</a:t>
            </a:r>
            <a:br/>
            <a:r>
              <a:rPr>
                <a:latin typeface="Courier"/>
              </a:rPr>
              <a:t>    .sort_values(</a:t>
            </a:r>
            <a:r>
              <a:rPr>
                <a:solidFill>
                  <a:srgbClr val="4070A0"/>
                </a:solidFill>
                <a:latin typeface="Courier"/>
              </a:rPr>
              <a:t>'amount'</a:t>
            </a:r>
            <a:r>
              <a:rPr>
                <a:latin typeface="Courier"/>
              </a:rPr>
              <a:t>, ascending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.reset_index(drop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One variable. Clear top-to-bottom flow. Comment out any line to test. Memory efficient.</a:t>
            </a:r>
          </a:p>
          <a:p>
            <a:pPr lvl="0" indent="0" marL="0">
              <a:buNone/>
            </a:pPr>
            <a:r>
              <a:rPr b="1"/>
              <a:t>The golden rule:</a:t>
            </a:r>
            <a:r>
              <a:rPr/>
              <a:t> If you create a variable just to modify it on the next line, use a chain instead.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Chain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tools that make chaining work.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.assign()</a:t>
            </a:r>
            <a:r>
              <a:rPr b="1"/>
              <a:t> — create columns</a:t>
            </a:r>
          </a:p>
          <a:p>
            <a:pPr lvl="0" indent="0" marL="0">
              <a:buNone/>
            </a:pPr>
            <a:r>
              <a:rPr/>
              <a:t>Never use </a:t>
            </a:r>
            <a:r>
              <a:rPr>
                <a:latin typeface="Courier"/>
              </a:rPr>
              <a:t>df['new_col'] = value</a:t>
            </a:r>
            <a:r>
              <a:rPr/>
              <a:t> inside a chain. Use </a:t>
            </a:r>
            <a:r>
              <a:rPr>
                <a:latin typeface="Courier"/>
              </a:rPr>
              <a:t>.assign()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latin typeface="Courier"/>
              </a:rPr>
              <a:t>enriched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br/>
            <a:r>
              <a:rPr>
                <a:latin typeface="Courier"/>
              </a:rPr>
              <a:t>    census_data</a:t>
            </a:r>
            <a:br/>
            <a:r>
              <a:rPr>
                <a:latin typeface="Courier"/>
              </a:rPr>
              <a:t>    .assign(</a:t>
            </a:r>
            <a:br/>
            <a:r>
              <a:rPr>
                <a:latin typeface="Courier"/>
              </a:rPr>
              <a:t>        density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x: x[</a:t>
            </a:r>
            <a:r>
              <a:rPr>
                <a:solidFill>
                  <a:srgbClr val="4070A0"/>
                </a:solidFill>
                <a:latin typeface="Courier"/>
              </a:rPr>
              <a:t>'population'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x[</a:t>
            </a:r>
            <a:r>
              <a:rPr>
                <a:solidFill>
                  <a:srgbClr val="4070A0"/>
                </a:solidFill>
                <a:latin typeface="Courier"/>
              </a:rPr>
              <a:t>'land_area_km2'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    classification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x: np.where(</a:t>
            </a:r>
            <a:br/>
            <a:r>
              <a:rPr>
                <a:latin typeface="Courier"/>
              </a:rPr>
              <a:t>            x[</a:t>
            </a:r>
            <a:r>
              <a:rPr>
                <a:solidFill>
                  <a:srgbClr val="4070A0"/>
                </a:solidFill>
                <a:latin typeface="Courier"/>
              </a:rPr>
              <a:t>'density'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5000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'High Density'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'Medium Density'</a:t>
            </a:r>
            <a:br/>
            <a:r>
              <a:rPr>
                <a:latin typeface="Courier"/>
              </a:rPr>
              <a:t>        )</a:t>
            </a:r>
            <a:br/>
            <a:r>
              <a:rPr>
                <a:latin typeface="Courier"/>
              </a:rPr>
              <a:t>    )</a:t>
            </a:r>
            <a:br/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 b="1"/>
              <a:t>Why </a:t>
            </a:r>
            <a:r>
              <a:rPr b="1">
                <a:latin typeface="Courier"/>
              </a:rPr>
              <a:t>lambda x:</a:t>
            </a:r>
            <a:r>
              <a:rPr b="1"/>
              <a:t>?</a:t>
            </a:r>
            <a:r>
              <a:rPr/>
              <a:t> It lets you reference columns created earlier in the same </a:t>
            </a:r>
            <a:r>
              <a:rPr>
                <a:latin typeface="Courier"/>
              </a:rPr>
              <a:t>.assign()</a:t>
            </a:r>
            <a:r>
              <a:rPr/>
              <a:t> call.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.dropna()</a:t>
            </a:r>
            <a:r>
              <a:rPr b="1"/>
              <a:t> and </a:t>
            </a:r>
            <a:r>
              <a:rPr b="1">
                <a:latin typeface="Courier"/>
              </a:rPr>
              <a:t>.fillna()</a:t>
            </a:r>
            <a:r>
              <a:rPr b="1"/>
              <a:t> — handle missing data</a:t>
            </a:r>
          </a:p>
          <a:p>
            <a:pPr lvl="0" indent="0" marL="0">
              <a:buNone/>
            </a:pPr>
            <a:r>
              <a:rPr/>
              <a:t>AI models cannot process </a:t>
            </a:r>
            <a:r>
              <a:rPr>
                <a:latin typeface="Courier"/>
              </a:rPr>
              <a:t>NaN</a:t>
            </a:r>
            <a:r>
              <a:rPr/>
              <a:t>. Handle it early.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Drop rows missing critical columns</a:t>
            </a:r>
            <a:br/>
            <a:r>
              <a:rPr>
                <a:latin typeface="Courier"/>
              </a:rPr>
              <a:t>df.dropna(subset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'student_id'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'gpa'</a:t>
            </a:r>
            <a:r>
              <a:rPr>
                <a:latin typeface="Courier"/>
              </a:rPr>
              <a:t>])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Fill with defaults</a:t>
            </a:r>
            <a:br/>
            <a:r>
              <a:rPr>
                <a:latin typeface="Courier"/>
              </a:rPr>
              <a:t>df.fillna({</a:t>
            </a:r>
            <a:r>
              <a:rPr>
                <a:solidFill>
                  <a:srgbClr val="4070A0"/>
                </a:solidFill>
                <a:latin typeface="Courier"/>
              </a:rPr>
              <a:t>'age'</a:t>
            </a:r>
            <a:r>
              <a:rPr>
                <a:latin typeface="Courier"/>
              </a:rPr>
              <a:t>: df[</a:t>
            </a:r>
            <a:r>
              <a:rPr>
                <a:solidFill>
                  <a:srgbClr val="4070A0"/>
                </a:solidFill>
                <a:latin typeface="Courier"/>
              </a:rPr>
              <a:t>'age'</a:t>
            </a:r>
            <a:r>
              <a:rPr>
                <a:latin typeface="Courier"/>
              </a:rPr>
              <a:t>].median(), </a:t>
            </a:r>
            <a:r>
              <a:rPr>
                <a:solidFill>
                  <a:srgbClr val="4070A0"/>
                </a:solidFill>
                <a:latin typeface="Courier"/>
              </a:rPr>
              <a:t>'scholarship'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})</a:t>
            </a:r>
          </a:p>
          <a:p>
            <a:pPr lvl="0" indent="0" marL="0">
              <a:buNone/>
            </a:pPr>
            <a:r>
              <a:rPr b="1"/>
              <a:t>Decision framework:</a:t>
            </a:r>
          </a:p>
          <a:p>
            <a:pPr lvl="0"/>
            <a:r>
              <a:rPr/>
              <a:t>Missing &lt; 5% of rows — </a:t>
            </a:r>
            <a:r>
              <a:rPr b="1"/>
              <a:t>drop</a:t>
            </a:r>
          </a:p>
          <a:p>
            <a:pPr lvl="0"/>
            <a:r>
              <a:rPr/>
              <a:t>Missing 5-30% — </a:t>
            </a:r>
            <a:r>
              <a:rPr b="1"/>
              <a:t>impute</a:t>
            </a:r>
            <a:r>
              <a:rPr/>
              <a:t> (fill)</a:t>
            </a:r>
          </a:p>
          <a:p>
            <a:pPr lvl="0"/>
            <a:r>
              <a:rPr/>
              <a:t>Missing &gt; 30% — </a:t>
            </a:r>
            <a:r>
              <a:rPr b="1"/>
              <a:t>investigate</a:t>
            </a:r>
            <a:r>
              <a:rPr/>
              <a:t> before deciding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.query()</a:t>
            </a:r>
            <a:r>
              <a:rPr b="1"/>
              <a:t> — filter rows</a:t>
            </a:r>
          </a:p>
          <a:p>
            <a:pPr lvl="0" indent="0" marL="0">
              <a:buNone/>
            </a:pPr>
            <a:r>
              <a:rPr/>
              <a:t>More readable than boolean indexing inside chains.</a:t>
            </a:r>
          </a:p>
          <a:p>
            <a:pPr lvl="0" indent="0">
              <a:buNone/>
            </a:pPr>
            <a:r>
              <a:rPr>
                <a:latin typeface="Courier"/>
              </a:rPr>
              <a:t>high_value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br/>
            <a:r>
              <a:rPr>
                <a:latin typeface="Courier"/>
              </a:rPr>
              <a:t>    transactions</a:t>
            </a:r>
            <a:br/>
            <a:r>
              <a:rPr>
                <a:latin typeface="Courier"/>
              </a:rPr>
              <a:t>    .query(</a:t>
            </a:r>
            <a:r>
              <a:rPr>
                <a:solidFill>
                  <a:srgbClr val="4070A0"/>
                </a:solidFill>
                <a:latin typeface="Courier"/>
              </a:rPr>
              <a:t>'amount_ghs &gt; 1000 and payment_method == "Card"'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.assign(commission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x: x[</a:t>
            </a:r>
            <a:r>
              <a:rPr>
                <a:solidFill>
                  <a:srgbClr val="4070A0"/>
                </a:solidFill>
                <a:latin typeface="Courier"/>
              </a:rPr>
              <a:t>'amount_ghs'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0.025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.groupby()</a:t>
            </a:r>
            <a:r>
              <a:rPr b="1"/>
              <a:t> + </a:t>
            </a:r>
            <a:r>
              <a:rPr b="1">
                <a:latin typeface="Courier"/>
              </a:rPr>
              <a:t>.agg()</a:t>
            </a:r>
            <a:r>
              <a:rPr b="1"/>
              <a:t> — aggregate</a:t>
            </a:r>
          </a:p>
          <a:p>
            <a:pPr lvl="0" indent="0">
              <a:buNone/>
            </a:pPr>
            <a:r>
              <a:rPr>
                <a:latin typeface="Courier"/>
              </a:rPr>
              <a:t>regional_summary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br/>
            <a:r>
              <a:rPr>
                <a:latin typeface="Courier"/>
              </a:rPr>
              <a:t>    transactions</a:t>
            </a:r>
            <a:br/>
            <a:r>
              <a:rPr>
                <a:latin typeface="Courier"/>
              </a:rPr>
              <a:t>    .groupby(</a:t>
            </a:r>
            <a:r>
              <a:rPr>
                <a:solidFill>
                  <a:srgbClr val="4070A0"/>
                </a:solidFill>
                <a:latin typeface="Courier"/>
              </a:rPr>
              <a:t>'region'</a:t>
            </a:r>
            <a:r>
              <a:rPr>
                <a:latin typeface="Courier"/>
              </a:rPr>
              <a:t>, as_index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.agg(</a:t>
            </a:r>
            <a:br/>
            <a:r>
              <a:rPr>
                <a:latin typeface="Courier"/>
              </a:rPr>
              <a:t>        total_sales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'amount_ghs'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'sum'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avg_order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'amount_ghs'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'mean'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num_orders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'order_id'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'count'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)</a:t>
            </a:r>
            <a:br/>
            <a:r>
              <a:rPr>
                <a:latin typeface="Courier"/>
              </a:rPr>
              <a:t>    .sort_values(</a:t>
            </a:r>
            <a:r>
              <a:rPr>
                <a:solidFill>
                  <a:srgbClr val="4070A0"/>
                </a:solidFill>
                <a:latin typeface="Courier"/>
              </a:rPr>
              <a:t>'total_sales'</a:t>
            </a:r>
            <a:r>
              <a:rPr>
                <a:latin typeface="Courier"/>
              </a:rPr>
              <a:t>, ascending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pd.concat()</a:t>
            </a:r>
            <a:r>
              <a:rPr b="1"/>
              <a:t> — combine data</a:t>
            </a:r>
          </a:p>
          <a:p>
            <a:pPr lvl="0" indent="0" marL="0">
              <a:buNone/>
            </a:pPr>
            <a:r>
              <a:rPr/>
              <a:t>Data arrives in fragments. Assemble it programmatically.</a:t>
            </a:r>
          </a:p>
          <a:p>
            <a:pPr lvl="0" indent="0">
              <a:buNone/>
            </a:pPr>
            <a:r>
              <a:rPr>
                <a:latin typeface="Courier"/>
              </a:rPr>
              <a:t>annual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br/>
            <a:r>
              <a:rPr>
                <a:latin typeface="Courier"/>
              </a:rPr>
              <a:t>    pd.concat([q1_sales, q2_sales], ignore_index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.assign(revenue_usd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x: x[</a:t>
            </a:r>
            <a:r>
              <a:rPr>
                <a:solidFill>
                  <a:srgbClr val="4070A0"/>
                </a:solidFill>
                <a:latin typeface="Courier"/>
              </a:rPr>
              <a:t>'revenue_ghs'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0.08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.sort_values([</a:t>
            </a:r>
            <a:r>
              <a:rPr>
                <a:solidFill>
                  <a:srgbClr val="4070A0"/>
                </a:solidFill>
                <a:latin typeface="Courier"/>
              </a:rPr>
              <a:t>'product'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'quarter'</a:t>
            </a:r>
            <a:r>
              <a:rPr>
                <a:latin typeface="Courier"/>
              </a:rPr>
              <a:t>])</a:t>
            </a:r>
            <a:br/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ignore_index=True</a:t>
            </a:r>
            <a:r>
              <a:rPr/>
              <a:t> creates a clean sequential index. Without it, you get duplicates.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Turning data into plots.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Python plotting stack</a:t>
            </a:r>
          </a:p>
          <a:p>
            <a:pPr lvl="0" indent="-342900" marL="342900">
              <a:buAutoNum type="arabicPeriod"/>
            </a:pPr>
            <a:r>
              <a:rPr b="1"/>
              <a:t>Matplotlib</a:t>
            </a:r>
            <a:r>
              <a:rPr/>
              <a:t> — the foundation, full control</a:t>
            </a:r>
          </a:p>
          <a:p>
            <a:pPr lvl="0" indent="-342900" marL="342900">
              <a:buAutoNum type="arabicPeriod"/>
            </a:pPr>
            <a:r>
              <a:rPr b="1"/>
              <a:t>Pandas </a:t>
            </a:r>
            <a:r>
              <a:rPr b="1">
                <a:latin typeface="Courier"/>
              </a:rPr>
              <a:t>.plot()</a:t>
            </a:r>
            <a:r>
              <a:rPr/>
              <a:t> — quick plots from DataFrames</a:t>
            </a:r>
          </a:p>
          <a:p>
            <a:pPr lvl="0" indent="-342900" marL="342900">
              <a:buAutoNum type="arabicPeriod"/>
            </a:pPr>
            <a:r>
              <a:rPr b="1"/>
              <a:t>Seaborn</a:t>
            </a:r>
            <a:r>
              <a:rPr/>
              <a:t> — statistical plots (boxplots, heatmaps, regressions)</a:t>
            </a:r>
          </a:p>
          <a:p>
            <a:pPr lvl="0" indent="-342900" marL="342900">
              <a:buAutoNum type="arabicPeriod"/>
            </a:pPr>
            <a:r>
              <a:rPr b="1"/>
              <a:t>Plotly</a:t>
            </a:r>
            <a:r>
              <a:rPr/>
              <a:t> — interactive, web-ready charts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Explicit (OOP) plotting — the standard</a:t>
            </a:r>
          </a:p>
          <a:p>
            <a:pPr lvl="0" indent="0" marL="0">
              <a:buNone/>
            </a:pPr>
            <a:r>
              <a:rPr/>
              <a:t>Never use the implicit </a:t>
            </a:r>
            <a:r>
              <a:rPr>
                <a:latin typeface="Courier"/>
              </a:rPr>
              <a:t>plt.plot()</a:t>
            </a:r>
            <a:r>
              <a:rPr/>
              <a:t> interface. Always create </a:t>
            </a:r>
            <a:r>
              <a:rPr>
                <a:latin typeface="Courier"/>
              </a:rPr>
              <a:t>fig</a:t>
            </a:r>
            <a:r>
              <a:rPr/>
              <a:t> and </a:t>
            </a:r>
            <a:r>
              <a:rPr>
                <a:latin typeface="Courier"/>
              </a:rPr>
              <a:t>ax</a:t>
            </a:r>
            <a:r>
              <a:rPr/>
              <a:t> objects.</a:t>
            </a:r>
          </a:p>
          <a:p>
            <a:pPr lvl="0" indent="0">
              <a:buNone/>
            </a:pPr>
            <a:r>
              <a:rPr>
                <a:latin typeface="Courier"/>
              </a:rPr>
              <a:t>fig, ax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plt.subplots(figsize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))</a:t>
            </a:r>
            <a:br/>
            <a:br/>
            <a:r>
              <a:rPr>
                <a:latin typeface="Courier"/>
              </a:rPr>
              <a:t>ax.plot(cities, salaries, marker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'o'</a:t>
            </a:r>
            <a:r>
              <a:rPr>
                <a:latin typeface="Courier"/>
              </a:rPr>
              <a:t>, linestyle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'--'</a:t>
            </a:r>
            <a:r>
              <a:rPr>
                <a:latin typeface="Courier"/>
              </a:rPr>
              <a:t>, color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'teal'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ax.set_title(</a:t>
            </a:r>
            <a:r>
              <a:rPr>
                <a:solidFill>
                  <a:srgbClr val="4070A0"/>
                </a:solidFill>
                <a:latin typeface="Courier"/>
              </a:rPr>
              <a:t>"Tech Salaries in Ghana"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ax.set_xlabel(</a:t>
            </a:r>
            <a:r>
              <a:rPr>
                <a:solidFill>
                  <a:srgbClr val="4070A0"/>
                </a:solidFill>
                <a:latin typeface="Courier"/>
              </a:rPr>
              <a:t>"City"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ax.set_ylabel(</a:t>
            </a:r>
            <a:r>
              <a:rPr>
                <a:solidFill>
                  <a:srgbClr val="4070A0"/>
                </a:solidFill>
                <a:latin typeface="Courier"/>
              </a:rPr>
              <a:t>"Monthly Salary (GHS)"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ax.grid(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, alpha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0.3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plt.show()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Pandas + OOP — the best of both</a:t>
            </a:r>
          </a:p>
          <a:p>
            <a:pPr lvl="0" indent="0" marL="0">
              <a:buNone/>
            </a:pPr>
            <a:r>
              <a:rPr/>
              <a:t>Use Pandas convenience, but inject the </a:t>
            </a:r>
            <a:r>
              <a:rPr>
                <a:latin typeface="Courier"/>
              </a:rPr>
              <a:t>ax</a:t>
            </a:r>
            <a:r>
              <a:rPr/>
              <a:t> object for control.</a:t>
            </a:r>
          </a:p>
          <a:p>
            <a:pPr lvl="0" indent="0">
              <a:buNone/>
            </a:pPr>
            <a:r>
              <a:rPr>
                <a:latin typeface="Courier"/>
              </a:rPr>
              <a:t>fig, (ax1, ax2)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plt.subplots(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figsize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))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Inject ax into Pandas .plot()</a:t>
            </a:r>
            <a:br/>
            <a:r>
              <a:rPr>
                <a:latin typeface="Courier"/>
              </a:rPr>
              <a:t>df.plot(kind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'bar'</a:t>
            </a:r>
            <a:r>
              <a:rPr>
                <a:latin typeface="Courier"/>
              </a:rPr>
              <a:t>, 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'company'</a:t>
            </a:r>
            <a:r>
              <a:rPr>
                <a:latin typeface="Courier"/>
              </a:rPr>
              <a:t>, 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'employees'</a:t>
            </a:r>
            <a:r>
              <a:rPr>
                <a:latin typeface="Courier"/>
              </a:rPr>
              <a:t>, ax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ax1)</a:t>
            </a:r>
            <a:br/>
            <a:r>
              <a:rPr>
                <a:latin typeface="Courier"/>
              </a:rPr>
              <a:t>ax1.set_title(</a:t>
            </a:r>
            <a:r>
              <a:rPr>
                <a:solidFill>
                  <a:srgbClr val="4070A0"/>
                </a:solidFill>
                <a:latin typeface="Courier"/>
              </a:rPr>
              <a:t>"Employee Count"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df.plot(kind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'pie'</a:t>
            </a:r>
            <a:r>
              <a:rPr>
                <a:latin typeface="Courier"/>
              </a:rPr>
              <a:t>, 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'funding'</a:t>
            </a:r>
            <a:r>
              <a:rPr>
                <a:latin typeface="Courier"/>
              </a:rPr>
              <a:t>, ax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ax2, autopct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'%1.1f%%'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ax2.set_title(</a:t>
            </a:r>
            <a:r>
              <a:rPr>
                <a:solidFill>
                  <a:srgbClr val="4070A0"/>
                </a:solidFill>
                <a:latin typeface="Courier"/>
              </a:rPr>
              <a:t>"Funding Distribution"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plt.tight_layout()</a:t>
            </a:r>
            <a:br/>
            <a:r>
              <a:rPr>
                <a:latin typeface="Courier"/>
              </a:rPr>
              <a:t>plt.show()</a:t>
            </a:r>
          </a:p>
          <a:p>
            <a:pPr lvl="0" indent="0" marL="0">
              <a:buNone/>
            </a:pPr>
            <a:r>
              <a:rPr/>
              <a:t>The key is </a:t>
            </a:r>
            <a:r>
              <a:rPr>
                <a:latin typeface="Courier"/>
              </a:rPr>
              <a:t>ax=ax1</a:t>
            </a:r>
            <a:r>
              <a:rPr/>
              <a:t> — that’s the “injection” step.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Seaborn — statistical plots</a:t>
            </a:r>
          </a:p>
          <a:p>
            <a:pPr lvl="0" indent="0" marL="0">
              <a:buNone/>
            </a:pPr>
            <a:r>
              <a:rPr/>
              <a:t>Seaborn handles the math. Matplotlib’s </a:t>
            </a:r>
            <a:r>
              <a:rPr>
                <a:latin typeface="Courier"/>
              </a:rPr>
              <a:t>ax</a:t>
            </a:r>
            <a:r>
              <a:rPr/>
              <a:t> gives you layout control.</a:t>
            </a:r>
          </a:p>
          <a:p>
            <a:pPr lvl="0" indent="0">
              <a:buNone/>
            </a:pPr>
            <a:r>
              <a:rPr>
                <a:latin typeface="Courier"/>
              </a:rPr>
              <a:t>fig, (ax1, ax2)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plt.subplots(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figsize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16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))</a:t>
            </a:r>
            <a:br/>
            <a:br/>
            <a:r>
              <a:rPr>
                <a:latin typeface="Courier"/>
              </a:rPr>
              <a:t>sns.boxplot(data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tips, 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'day'</a:t>
            </a:r>
            <a:r>
              <a:rPr>
                <a:latin typeface="Courier"/>
              </a:rPr>
              <a:t>, 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'total_bill'</a:t>
            </a:r>
            <a:r>
              <a:rPr>
                <a:latin typeface="Courier"/>
              </a:rPr>
              <a:t>, hue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'sex'</a:t>
            </a:r>
            <a:r>
              <a:rPr>
                <a:latin typeface="Courier"/>
              </a:rPr>
              <a:t>, ax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ax1)</a:t>
            </a:r>
            <a:br/>
            <a:r>
              <a:rPr>
                <a:latin typeface="Courier"/>
              </a:rPr>
              <a:t>ax1.set_title(</a:t>
            </a:r>
            <a:r>
              <a:rPr>
                <a:solidFill>
                  <a:srgbClr val="4070A0"/>
                </a:solidFill>
                <a:latin typeface="Courier"/>
              </a:rPr>
              <a:t>"Bill Distribution by Day"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sns.regplot(data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tips, 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'total_bill'</a:t>
            </a:r>
            <a:r>
              <a:rPr>
                <a:latin typeface="Courier"/>
              </a:rPr>
              <a:t>, 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'tip'</a:t>
            </a:r>
            <a:r>
              <a:rPr>
                <a:latin typeface="Courier"/>
              </a:rPr>
              <a:t>, ax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ax2)</a:t>
            </a:r>
            <a:br/>
            <a:r>
              <a:rPr>
                <a:latin typeface="Courier"/>
              </a:rPr>
              <a:t>ax2.set_title(</a:t>
            </a:r>
            <a:r>
              <a:rPr>
                <a:solidFill>
                  <a:srgbClr val="4070A0"/>
                </a:solidFill>
                <a:latin typeface="Courier"/>
              </a:rPr>
              <a:t>"Bill vs Tip"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plt.tight_layout()</a:t>
            </a:r>
            <a:br/>
            <a:r>
              <a:rPr>
                <a:latin typeface="Courier"/>
              </a:rPr>
              <a:t>plt.show()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Heatmaps — feature correlation</a:t>
            </a:r>
          </a:p>
          <a:p>
            <a:pPr lvl="0" indent="0" marL="0">
              <a:buNone/>
            </a:pPr>
            <a:r>
              <a:rPr/>
              <a:t>You’ll use these constantly to check if features are too similar (multicollinearity).</a:t>
            </a:r>
          </a:p>
          <a:p>
            <a:pPr lvl="0" indent="0">
              <a:buNone/>
            </a:pPr>
            <a:r>
              <a:rPr>
                <a:latin typeface="Courier"/>
              </a:rPr>
              <a:t>corr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df.select_dtypes(include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[np.number]).corr()</a:t>
            </a:r>
            <a:br/>
            <a:br/>
            <a:r>
              <a:rPr>
                <a:latin typeface="Courier"/>
              </a:rPr>
              <a:t>fig, ax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plt.subplots(figsize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))</a:t>
            </a:r>
            <a:br/>
            <a:r>
              <a:rPr>
                <a:latin typeface="Courier"/>
              </a:rPr>
              <a:t>sns.heatmap(corr, annot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, cmap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'coolwarm'</a:t>
            </a:r>
            <a:r>
              <a:rPr>
                <a:latin typeface="Courier"/>
              </a:rPr>
              <a:t>, fmt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".2f"</a:t>
            </a:r>
            <a:r>
              <a:rPr>
                <a:latin typeface="Courier"/>
              </a:rPr>
              <a:t>, ax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ax)</a:t>
            </a:r>
            <a:br/>
            <a:r>
              <a:rPr>
                <a:latin typeface="Courier"/>
              </a:rPr>
              <a:t>ax.set_title(</a:t>
            </a:r>
            <a:r>
              <a:rPr>
                <a:solidFill>
                  <a:srgbClr val="4070A0"/>
                </a:solidFill>
                <a:latin typeface="Courier"/>
              </a:rPr>
              <a:t>"Feature Correlation Heatmap"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plt.show()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Tidy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shape your data must be in before modeling.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three rules</a:t>
            </a:r>
          </a:p>
          <a:p>
            <a:pPr lvl="0" indent="-342900" marL="342900">
              <a:buAutoNum type="arabicPeriod"/>
            </a:pPr>
            <a:r>
              <a:rPr/>
              <a:t>Each </a:t>
            </a:r>
            <a:r>
              <a:rPr b="1"/>
              <a:t>variable</a:t>
            </a:r>
            <a:r>
              <a:rPr/>
              <a:t> forms a column</a:t>
            </a:r>
          </a:p>
          <a:p>
            <a:pPr lvl="0" indent="-342900" marL="342900">
              <a:buAutoNum type="arabicPeriod"/>
            </a:pPr>
            <a:r>
              <a:rPr/>
              <a:t>Each </a:t>
            </a:r>
            <a:r>
              <a:rPr b="1"/>
              <a:t>observation</a:t>
            </a:r>
            <a:r>
              <a:rPr/>
              <a:t> forms a row</a:t>
            </a:r>
          </a:p>
          <a:p>
            <a:pPr lvl="0" indent="-342900" marL="342900">
              <a:buAutoNum type="arabicPeriod"/>
            </a:pPr>
            <a:r>
              <a:rPr/>
              <a:t>Each </a:t>
            </a:r>
            <a:r>
              <a:rPr b="1"/>
              <a:t>type of observational unit</a:t>
            </a:r>
            <a:r>
              <a:rPr/>
              <a:t> forms a table</a:t>
            </a:r>
          </a:p>
          <a:p>
            <a:pPr lvl="0" indent="0" marL="0">
              <a:buNone/>
            </a:pPr>
            <a:r>
              <a:rPr/>
              <a:t>Anything else is messy data. You’ll spend 80% of your time fixing it.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Messy vs. tidy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Messy (wide):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00"/>
                <a:gridCol w="1003300"/>
                <a:gridCol w="1003300"/>
                <a:gridCol w="1003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religion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&lt;$10k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$10-20k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$20-30k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Catholic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732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Jewish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Column headers are </a:t>
            </a:r>
            <a:r>
              <a:rPr b="1"/>
              <a:t>values</a:t>
            </a:r>
            <a:r>
              <a:rPr/>
              <a:t>, not variable names.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Tidy (long):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355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religion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count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Catholic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&lt;$10k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418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Catholic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$10-20k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617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Jewish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&lt;$10k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row is one observation.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.melt()</a:t>
            </a:r>
            <a:r>
              <a:rPr b="1"/>
              <a:t> — wide to long</a:t>
            </a:r>
          </a:p>
          <a:p>
            <a:pPr lvl="0" indent="0" marL="0">
              <a:buNone/>
            </a:pPr>
            <a:r>
              <a:rPr/>
              <a:t>The tool that fixes most messy data.</a:t>
            </a:r>
          </a:p>
          <a:p>
            <a:pPr lvl="0" indent="0">
              <a:buNone/>
            </a:pPr>
            <a:r>
              <a:rPr>
                <a:latin typeface="Courier"/>
              </a:rPr>
              <a:t>tidy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pd.melt(</a:t>
            </a:r>
            <a:br/>
            <a:r>
              <a:rPr>
                <a:latin typeface="Courier"/>
              </a:rPr>
              <a:t>    pew,</a:t>
            </a:r>
            <a:br/>
            <a:r>
              <a:rPr>
                <a:latin typeface="Courier"/>
              </a:rPr>
              <a:t>    id_vars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'religion'</a:t>
            </a:r>
            <a:r>
              <a:rPr>
                <a:latin typeface="Courier"/>
              </a:rPr>
              <a:t>,     </a:t>
            </a:r>
            <a:r>
              <a:rPr i="1">
                <a:solidFill>
                  <a:srgbClr val="60A0B0"/>
                </a:solidFill>
                <a:latin typeface="Courier"/>
              </a:rPr>
              <a:t># column to keep as-is</a:t>
            </a:r>
            <a:br/>
            <a:r>
              <a:rPr>
                <a:latin typeface="Courier"/>
              </a:rPr>
              <a:t>    var_name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'income'</a:t>
            </a:r>
            <a:r>
              <a:rPr>
                <a:latin typeface="Courier"/>
              </a:rPr>
              <a:t>,      </a:t>
            </a:r>
            <a:r>
              <a:rPr i="1">
                <a:solidFill>
                  <a:srgbClr val="60A0B0"/>
                </a:solidFill>
                <a:latin typeface="Courier"/>
              </a:rPr>
              <a:t># name for the old headers</a:t>
            </a:r>
            <a:br/>
            <a:r>
              <a:rPr>
                <a:latin typeface="Courier"/>
              </a:rPr>
              <a:t>    value_name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'count'</a:t>
            </a:r>
            <a:r>
              <a:rPr>
                <a:latin typeface="Courier"/>
              </a:rPr>
              <a:t>      </a:t>
            </a:r>
            <a:r>
              <a:rPr i="1">
                <a:solidFill>
                  <a:srgbClr val="60A0B0"/>
                </a:solidFill>
                <a:latin typeface="Courier"/>
              </a:rPr>
              <a:t># name for the cell values</a:t>
            </a:r>
            <a:br/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Splitting combined columns</a:t>
            </a:r>
          </a:p>
          <a:p>
            <a:pPr lvl="0" indent="0" marL="0">
              <a:buNone/>
            </a:pPr>
            <a:r>
              <a:rPr/>
              <a:t>Sometimes one column holds two variables (e.g., </a:t>
            </a:r>
            <a:r>
              <a:rPr>
                <a:latin typeface="Courier"/>
              </a:rPr>
              <a:t>m_0_14</a:t>
            </a:r>
            <a:r>
              <a:rPr/>
              <a:t> = male, age 0-14).</a:t>
            </a:r>
          </a:p>
          <a:p>
            <a:pPr lvl="0" indent="0">
              <a:buNone/>
            </a:pPr>
            <a:r>
              <a:rPr>
                <a:latin typeface="Courier"/>
              </a:rPr>
              <a:t>tidy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br/>
            <a:r>
              <a:rPr>
                <a:latin typeface="Courier"/>
              </a:rPr>
              <a:t>    health_data</a:t>
            </a:r>
            <a:br/>
            <a:r>
              <a:rPr>
                <a:latin typeface="Courier"/>
              </a:rPr>
              <a:t>    .melt(id_vars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'patient_id'</a:t>
            </a:r>
            <a:r>
              <a:rPr>
                <a:latin typeface="Courier"/>
              </a:rPr>
              <a:t>, var_name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'sex_age'</a:t>
            </a:r>
            <a:r>
              <a:rPr>
                <a:latin typeface="Courier"/>
              </a:rPr>
              <a:t>, value_name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'visits'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.assign(</a:t>
            </a:r>
            <a:br/>
            <a:r>
              <a:rPr>
                <a:latin typeface="Courier"/>
              </a:rPr>
              <a:t>        sex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x: x[</a:t>
            </a:r>
            <a:r>
              <a:rPr>
                <a:solidFill>
                  <a:srgbClr val="4070A0"/>
                </a:solidFill>
                <a:latin typeface="Courier"/>
              </a:rPr>
              <a:t>'sex_age'</a:t>
            </a:r>
            <a:r>
              <a:rPr>
                <a:latin typeface="Courier"/>
              </a:rPr>
              <a:t>].</a:t>
            </a:r>
            <a:r>
              <a:rPr>
                <a:solidFill>
                  <a:srgbClr val="008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.get(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age_group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x: x[</a:t>
            </a:r>
            <a:r>
              <a:rPr>
                <a:solidFill>
                  <a:srgbClr val="4070A0"/>
                </a:solidFill>
                <a:latin typeface="Courier"/>
              </a:rPr>
              <a:t>'sex_age'</a:t>
            </a:r>
            <a:r>
              <a:rPr>
                <a:latin typeface="Courier"/>
              </a:rPr>
              <a:t>].</a:t>
            </a:r>
            <a:r>
              <a:rPr>
                <a:solidFill>
                  <a:srgbClr val="008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.split(</a:t>
            </a:r>
            <a:r>
              <a:rPr>
                <a:solidFill>
                  <a:srgbClr val="4070A0"/>
                </a:solidFill>
                <a:latin typeface="Courier"/>
              </a:rPr>
              <a:t>'_'</a:t>
            </a:r>
            <a:r>
              <a:rPr>
                <a:latin typeface="Courier"/>
              </a:rPr>
              <a:t>, n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).</a:t>
            </a:r>
            <a:r>
              <a:rPr>
                <a:solidFill>
                  <a:srgbClr val="008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.get(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)</a:t>
            </a:r>
            <a:br/>
            <a:r>
              <a:rPr>
                <a:latin typeface="Courier"/>
              </a:rPr>
              <a:t>    .drop(columns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'sex_age'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>
                <a:latin typeface="Courier"/>
              </a:rPr>
              <a:t>.pivot_table()</a:t>
            </a:r>
            <a:r>
              <a:rPr b="1"/>
              <a:t> — long to wide</a:t>
            </a:r>
          </a:p>
          <a:p>
            <a:pPr lvl="0" indent="0" marL="0">
              <a:buNone/>
            </a:pPr>
            <a:r>
              <a:rPr/>
              <a:t>When a column contains variable names that should be their own columns.</a:t>
            </a:r>
          </a:p>
          <a:p>
            <a:pPr lvl="0" indent="0">
              <a:buNone/>
            </a:pPr>
            <a:r>
              <a:rPr>
                <a:latin typeface="Courier"/>
              </a:rPr>
              <a:t>weather_tidy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br/>
            <a:r>
              <a:rPr>
                <a:latin typeface="Courier"/>
              </a:rPr>
              <a:t>    weather</a:t>
            </a:r>
            <a:br/>
            <a:r>
              <a:rPr>
                <a:latin typeface="Courier"/>
              </a:rPr>
              <a:t>    .melt(id_vars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'id'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'year'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'month'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'element'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      var_name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'day'</a:t>
            </a:r>
            <a:r>
              <a:rPr>
                <a:latin typeface="Courier"/>
              </a:rPr>
              <a:t>, value_name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'temp'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.assign(day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x: x[</a:t>
            </a:r>
            <a:r>
              <a:rPr>
                <a:solidFill>
                  <a:srgbClr val="4070A0"/>
                </a:solidFill>
                <a:latin typeface="Courier"/>
              </a:rPr>
              <a:t>'day'</a:t>
            </a:r>
            <a:r>
              <a:rPr>
                <a:latin typeface="Courier"/>
              </a:rPr>
              <a:t>].</a:t>
            </a:r>
            <a:r>
              <a:rPr>
                <a:solidFill>
                  <a:srgbClr val="008000"/>
                </a:solidFill>
                <a:latin typeface="Courier"/>
              </a:rPr>
              <a:t>str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:].astype(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))</a:t>
            </a:r>
            <a:br/>
            <a:r>
              <a:rPr>
                <a:latin typeface="Courier"/>
              </a:rPr>
              <a:t>    .pivot_table(</a:t>
            </a:r>
            <a:br/>
            <a:r>
              <a:rPr>
                <a:latin typeface="Courier"/>
              </a:rPr>
              <a:t>        index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'id'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'year'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'month'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'day'</a:t>
            </a:r>
            <a:r>
              <a:rPr>
                <a:latin typeface="Courier"/>
              </a:rPr>
              <a:t>],</a:t>
            </a:r>
            <a:br/>
            <a:r>
              <a:rPr>
                <a:latin typeface="Courier"/>
              </a:rPr>
              <a:t>        columns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'element'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values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'temp'</a:t>
            </a:r>
            <a:br/>
            <a:r>
              <a:rPr>
                <a:latin typeface="Courier"/>
              </a:rPr>
              <a:t>    )</a:t>
            </a:r>
            <a:br/>
            <a:r>
              <a:rPr>
                <a:latin typeface="Courier"/>
              </a:rPr>
              <a:t>    .reset_index()</a:t>
            </a:r>
            <a:br/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First melt to get one row per observation, then pivot the </a:t>
            </a:r>
            <a:r>
              <a:rPr>
                <a:latin typeface="Courier"/>
              </a:rPr>
              <a:t>element</a:t>
            </a:r>
            <a:r>
              <a:rPr/>
              <a:t> column back into separate </a:t>
            </a:r>
            <a:r>
              <a:rPr>
                <a:latin typeface="Courier"/>
              </a:rPr>
              <a:t>tmax</a:t>
            </a:r>
            <a:r>
              <a:rPr/>
              <a:t> and </a:t>
            </a:r>
            <a:r>
              <a:rPr>
                <a:latin typeface="Courier"/>
              </a:rPr>
              <a:t>tmin</a:t>
            </a:r>
            <a:r>
              <a:rPr/>
              <a:t> columns.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Normalization — one table per thing</a:t>
            </a:r>
          </a:p>
          <a:p>
            <a:pPr lvl="0" indent="0" marL="0">
              <a:buNone/>
            </a:pPr>
            <a:r>
              <a:rPr/>
              <a:t>If a song stays on the Billboard chart for 20 weeks, its artist and track name repeat 20 times. Split it:</a:t>
            </a:r>
          </a:p>
          <a:p>
            <a:pPr lvl="0"/>
            <a:r>
              <a:rPr b="1"/>
              <a:t>Songs table</a:t>
            </a:r>
            <a:r>
              <a:rPr/>
              <a:t> — unique songs with metadata</a:t>
            </a:r>
          </a:p>
          <a:p>
            <a:pPr lvl="0"/>
            <a:r>
              <a:rPr b="1"/>
              <a:t>Ranks table</a:t>
            </a:r>
            <a:r>
              <a:rPr/>
              <a:t> — weekly performance, linked by song ID</a:t>
            </a:r>
          </a:p>
          <a:p>
            <a:pPr lvl="0" indent="0">
              <a:buNone/>
            </a:pPr>
            <a:r>
              <a:rPr>
                <a:latin typeface="Courier"/>
              </a:rPr>
              <a:t>songs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br/>
            <a:r>
              <a:rPr>
                <a:latin typeface="Courier"/>
              </a:rPr>
              <a:t>    billboard[[</a:t>
            </a:r>
            <a:r>
              <a:rPr>
                <a:solidFill>
                  <a:srgbClr val="4070A0"/>
                </a:solidFill>
                <a:latin typeface="Courier"/>
              </a:rPr>
              <a:t>'artist'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'track'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'time'</a:t>
            </a:r>
            <a:r>
              <a:rPr>
                <a:latin typeface="Courier"/>
              </a:rPr>
              <a:t>]]</a:t>
            </a:r>
            <a:br/>
            <a:r>
              <a:rPr>
                <a:latin typeface="Courier"/>
              </a:rPr>
              <a:t>    .drop_duplicates()</a:t>
            </a:r>
            <a:br/>
            <a:r>
              <a:rPr>
                <a:latin typeface="Courier"/>
              </a:rPr>
              <a:t>    .assign(song_id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x: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(x)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))</a:t>
            </a:r>
            <a:br/>
            <a:r>
              <a:rPr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Modern data warehouses (Snowflake, BigQuery) are built on this normalized structure.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things that break chains.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Mistake 1: </a:t>
            </a:r>
            <a:r>
              <a:rPr b="1">
                <a:latin typeface="Courier"/>
              </a:rPr>
              <a:t>inplace=True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BAD — returns None, breaks the chain</a:t>
            </a:r>
            <a:br/>
            <a:r>
              <a:rPr>
                <a:latin typeface="Courier"/>
              </a:rPr>
              <a:t>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df.dropna(inplace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GOOD — returns a new DataFrame, chain continues</a:t>
            </a:r>
            <a:br/>
            <a:r>
              <a:rPr>
                <a:latin typeface="Courier"/>
              </a:rPr>
              <a:t>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df.dropna().sort_values(</a:t>
            </a:r>
            <a:r>
              <a:rPr>
                <a:solidFill>
                  <a:srgbClr val="4070A0"/>
                </a:solidFill>
                <a:latin typeface="Courier"/>
              </a:rPr>
              <a:t>'col'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Mistake 2: no </a:t>
            </a:r>
            <a:r>
              <a:rPr b="1">
                <a:latin typeface="Courier"/>
              </a:rPr>
              <a:t>lambda</a:t>
            </a:r>
            <a:r>
              <a:rPr b="1"/>
              <a:t> in </a:t>
            </a:r>
            <a:r>
              <a:rPr b="1">
                <a:latin typeface="Courier"/>
              </a:rPr>
              <a:t>.assign()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GOOD — lambda lets you reference columns created above</a:t>
            </a:r>
            <a:br/>
            <a:r>
              <a:rPr>
                <a:latin typeface="Courier"/>
              </a:rPr>
              <a:t>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df.assign(</a:t>
            </a:r>
            <a:br/>
            <a:r>
              <a:rPr>
                <a:latin typeface="Courier"/>
              </a:rPr>
              <a:t>    new_col_1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x: x[</a:t>
            </a:r>
            <a:r>
              <a:rPr>
                <a:solidFill>
                  <a:srgbClr val="4070A0"/>
                </a:solidFill>
                <a:latin typeface="Courier"/>
              </a:rPr>
              <a:t>'old_col'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new_col_2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x: x[</a:t>
            </a:r>
            <a:r>
              <a:rPr>
                <a:solidFill>
                  <a:srgbClr val="4070A0"/>
                </a:solidFill>
                <a:latin typeface="Courier"/>
              </a:rPr>
              <a:t>'new_col_1'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  </a:t>
            </a:r>
            <a:r>
              <a:rPr i="1">
                <a:solidFill>
                  <a:srgbClr val="60A0B0"/>
                </a:solidFill>
                <a:latin typeface="Courier"/>
              </a:rPr>
              <a:t># works!</a:t>
            </a:r>
            <a:br/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Without </a:t>
            </a:r>
            <a:r>
              <a:rPr>
                <a:latin typeface="Courier"/>
              </a:rPr>
              <a:t>lambda</a:t>
            </a:r>
            <a:r>
              <a:rPr/>
              <a:t>, </a:t>
            </a:r>
            <a:r>
              <a:rPr>
                <a:latin typeface="Courier"/>
              </a:rPr>
              <a:t>new_col_1</a:t>
            </a:r>
            <a:r>
              <a:rPr/>
              <a:t> doesn’t exist yet when </a:t>
            </a:r>
            <a:r>
              <a:rPr>
                <a:latin typeface="Courier"/>
              </a:rPr>
              <a:t>new_col_2</a:t>
            </a:r>
            <a:r>
              <a:rPr/>
              <a:t> tries to use it.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Mistake 3: no parentheses around the chain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BAD — one long unreadable line</a:t>
            </a:r>
            <a:br/>
            <a:r>
              <a:rPr>
                <a:latin typeface="Courier"/>
              </a:rPr>
              <a:t>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df.dropna().assign(x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d: d[</a:t>
            </a:r>
            <a:r>
              <a:rPr>
                <a:solidFill>
                  <a:srgbClr val="4070A0"/>
                </a:solidFill>
                <a:latin typeface="Courier"/>
              </a:rPr>
              <a:t>'a'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).sort_values(</a:t>
            </a:r>
            <a:r>
              <a:rPr>
                <a:solidFill>
                  <a:srgbClr val="4070A0"/>
                </a:solidFill>
                <a:latin typeface="Courier"/>
              </a:rPr>
              <a:t>'x'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GOOD — each step on its own line</a:t>
            </a:r>
            <a:br/>
            <a:r>
              <a:rPr>
                <a:latin typeface="Courier"/>
              </a:rPr>
              <a:t>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(</a:t>
            </a:r>
            <a:br/>
            <a:r>
              <a:rPr>
                <a:latin typeface="Courier"/>
              </a:rPr>
              <a:t>    df</a:t>
            </a:r>
            <a:br/>
            <a:r>
              <a:rPr>
                <a:latin typeface="Courier"/>
              </a:rPr>
              <a:t>    .dropna()</a:t>
            </a:r>
            <a:br/>
            <a:r>
              <a:rPr>
                <a:latin typeface="Courier"/>
              </a:rPr>
              <a:t>    .assign(x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d: d[</a:t>
            </a:r>
            <a:r>
              <a:rPr>
                <a:solidFill>
                  <a:srgbClr val="4070A0"/>
                </a:solidFill>
                <a:latin typeface="Courier"/>
              </a:rPr>
              <a:t>'a'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.sort_values(</a:t>
            </a:r>
            <a:r>
              <a:rPr>
                <a:solidFill>
                  <a:srgbClr val="4070A0"/>
                </a:solidFill>
                <a:latin typeface="Courier"/>
              </a:rPr>
              <a:t>'x'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Performance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when your dataset gets big.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Optimize data types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Convert repetitive strings to categories</a:t>
            </a:r>
            <a:br/>
            <a:r>
              <a:rPr>
                <a:latin typeface="Courier"/>
              </a:rPr>
              <a:t>df[</a:t>
            </a:r>
            <a:r>
              <a:rPr>
                <a:solidFill>
                  <a:srgbClr val="4070A0"/>
                </a:solidFill>
                <a:latin typeface="Courier"/>
              </a:rPr>
              <a:t>'region'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df[</a:t>
            </a:r>
            <a:r>
              <a:rPr>
                <a:solidFill>
                  <a:srgbClr val="4070A0"/>
                </a:solidFill>
                <a:latin typeface="Courier"/>
              </a:rPr>
              <a:t>'region'</a:t>
            </a:r>
            <a:r>
              <a:rPr>
                <a:latin typeface="Courier"/>
              </a:rPr>
              <a:t>].astype(</a:t>
            </a:r>
            <a:r>
              <a:rPr>
                <a:solidFill>
                  <a:srgbClr val="4070A0"/>
                </a:solidFill>
                <a:latin typeface="Courier"/>
              </a:rPr>
              <a:t>'category'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Use smaller integers</a:t>
            </a:r>
            <a:br/>
            <a:r>
              <a:rPr>
                <a:latin typeface="Courier"/>
              </a:rPr>
              <a:t>df[</a:t>
            </a:r>
            <a:r>
              <a:rPr>
                <a:solidFill>
                  <a:srgbClr val="4070A0"/>
                </a:solidFill>
                <a:latin typeface="Courier"/>
              </a:rPr>
              <a:t>'year'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df[</a:t>
            </a:r>
            <a:r>
              <a:rPr>
                <a:solidFill>
                  <a:srgbClr val="4070A0"/>
                </a:solidFill>
                <a:latin typeface="Courier"/>
              </a:rPr>
              <a:t>'year'</a:t>
            </a:r>
            <a:r>
              <a:rPr>
                <a:latin typeface="Courier"/>
              </a:rPr>
              <a:t>].astype(</a:t>
            </a:r>
            <a:r>
              <a:rPr>
                <a:solidFill>
                  <a:srgbClr val="4070A0"/>
                </a:solidFill>
                <a:latin typeface="Courier"/>
              </a:rPr>
              <a:t>'int16'</a:t>
            </a:r>
            <a:r>
              <a:rPr>
                <a:latin typeface="Courier"/>
              </a:rPr>
              <a:t>)  </a:t>
            </a:r>
            <a:r>
              <a:rPr i="1">
                <a:solidFill>
                  <a:srgbClr val="60A0B0"/>
                </a:solidFill>
                <a:latin typeface="Courier"/>
              </a:rPr>
              <a:t># instead of int64</a:t>
            </a:r>
          </a:p>
          <a:p>
            <a:pPr lvl="0" indent="0" marL="0">
              <a:buNone/>
            </a:pPr>
            <a:r>
              <a:rPr/>
              <a:t>On a 5,000-row dataset, this cuts memory by 50%+. On millions of rows, it’s the difference between crashing and running.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learned across three notebooks.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full picture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Notebook 1: Foundations</a:t>
            </a:r>
          </a:p>
          <a:p>
            <a:pPr lvl="0"/>
            <a:r>
              <a:rPr/>
              <a:t>Series and DataFrames</a:t>
            </a:r>
          </a:p>
          <a:p>
            <a:pPr lvl="0"/>
            <a:r>
              <a:rPr/>
              <a:t>Attributes vs. methods</a:t>
            </a:r>
          </a:p>
          <a:p>
            <a:pPr lvl="0"/>
            <a:r>
              <a:rPr/>
              <a:t>Method chaining</a:t>
            </a:r>
          </a:p>
          <a:p>
            <a:pPr lvl="0"/>
            <a:r>
              <a:rPr>
                <a:latin typeface="Courier"/>
              </a:rPr>
              <a:t>.assign()</a:t>
            </a:r>
            <a:r>
              <a:rPr/>
              <a:t>, </a:t>
            </a:r>
            <a:r>
              <a:rPr>
                <a:latin typeface="Courier"/>
              </a:rPr>
              <a:t>.query()</a:t>
            </a:r>
          </a:p>
          <a:p>
            <a:pPr lvl="0"/>
            <a:r>
              <a:rPr>
                <a:latin typeface="Courier"/>
              </a:rPr>
              <a:t>.dropna()</a:t>
            </a:r>
            <a:r>
              <a:rPr/>
              <a:t>, </a:t>
            </a:r>
            <a:r>
              <a:rPr>
                <a:latin typeface="Courier"/>
              </a:rPr>
              <a:t>.fillna()</a:t>
            </a:r>
          </a:p>
          <a:p>
            <a:pPr lvl="0"/>
            <a:r>
              <a:rPr>
                <a:latin typeface="Courier"/>
              </a:rPr>
              <a:t>pd.concat()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Notebook 2: Visualization</a:t>
            </a:r>
          </a:p>
          <a:p>
            <a:pPr lvl="0"/>
            <a:r>
              <a:rPr/>
              <a:t>Explicit (OOP) plotting</a:t>
            </a:r>
          </a:p>
          <a:p>
            <a:pPr lvl="0"/>
            <a:r>
              <a:rPr>
                <a:latin typeface="Courier"/>
              </a:rPr>
              <a:t>fig, ax = plt.subplots()</a:t>
            </a:r>
          </a:p>
          <a:p>
            <a:pPr lvl="0"/>
            <a:r>
              <a:rPr/>
              <a:t>Pandas </a:t>
            </a:r>
            <a:r>
              <a:rPr>
                <a:latin typeface="Courier"/>
              </a:rPr>
              <a:t>.plot(ax=ax)</a:t>
            </a:r>
          </a:p>
          <a:p>
            <a:pPr lvl="0"/>
            <a:r>
              <a:rPr/>
              <a:t>Seaborn integration</a:t>
            </a:r>
          </a:p>
          <a:p>
            <a:pPr lvl="0"/>
            <a:r>
              <a:rPr/>
              <a:t>Heatmaps for correlation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rules to carry forward</a:t>
            </a:r>
          </a:p>
          <a:p>
            <a:pPr lvl="0" indent="-342900" marL="342900">
              <a:buAutoNum type="arabicPeriod"/>
            </a:pPr>
            <a:r>
              <a:rPr b="1"/>
              <a:t>Chain, don’t soup</a:t>
            </a:r>
            <a:r>
              <a:rPr/>
              <a:t> — one pipeline, zero intermediate variables</a:t>
            </a:r>
          </a:p>
          <a:p>
            <a:pPr lvl="0" indent="-342900" marL="342900">
              <a:buAutoNum type="arabicPeriod"/>
            </a:pPr>
            <a:r>
              <a:rPr b="1"/>
              <a:t>Always use </a:t>
            </a:r>
            <a:r>
              <a:rPr b="1">
                <a:latin typeface="Courier"/>
              </a:rPr>
              <a:t>lambda</a:t>
            </a:r>
            <a:r>
              <a:rPr/>
              <a:t> in </a:t>
            </a:r>
            <a:r>
              <a:rPr>
                <a:latin typeface="Courier"/>
              </a:rPr>
              <a:t>.assign()</a:t>
            </a:r>
            <a:r>
              <a:rPr/>
              <a:t> when referencing new columns</a:t>
            </a:r>
          </a:p>
          <a:p>
            <a:pPr lvl="0" indent="-342900" marL="342900">
              <a:buAutoNum type="arabicPeriod"/>
            </a:pPr>
            <a:r>
              <a:rPr b="1"/>
              <a:t>Never use </a:t>
            </a:r>
            <a:r>
              <a:rPr b="1">
                <a:latin typeface="Courier"/>
              </a:rPr>
              <a:t>inplace=True</a:t>
            </a:r>
            <a:r>
              <a:rPr/>
              <a:t> — it breaks chains and returns </a:t>
            </a:r>
            <a:r>
              <a:rPr>
                <a:latin typeface="Courier"/>
              </a:rPr>
              <a:t>None</a:t>
            </a:r>
          </a:p>
          <a:p>
            <a:pPr lvl="0" indent="-342900" marL="342900">
              <a:buAutoNum type="arabicPeriod"/>
            </a:pPr>
            <a:r>
              <a:rPr b="1"/>
              <a:t>Explicit plotting only</a:t>
            </a:r>
            <a:r>
              <a:rPr/>
              <a:t> — </a:t>
            </a:r>
            <a:r>
              <a:rPr>
                <a:latin typeface="Courier"/>
              </a:rPr>
              <a:t>fig, ax = plt.subplots()</a:t>
            </a:r>
            <a:r>
              <a:rPr/>
              <a:t>, always</a:t>
            </a:r>
          </a:p>
          <a:p>
            <a:pPr lvl="0" indent="-342900" marL="342900">
              <a:buAutoNum type="arabicPeriod"/>
            </a:pPr>
            <a:r>
              <a:rPr b="1"/>
              <a:t>Tidy before modeling</a:t>
            </a:r>
            <a:r>
              <a:rPr/>
              <a:t> — each variable a column, each observation a row</a:t>
            </a:r>
          </a:p>
          <a:p>
            <a:pPr lvl="0" indent="-342900" marL="342900">
              <a:buAutoNum type="arabicPeriod"/>
            </a:pPr>
            <a:r>
              <a:rPr b="1"/>
              <a:t>Check </a:t>
            </a:r>
            <a:r>
              <a:rPr b="1">
                <a:latin typeface="Courier"/>
              </a:rPr>
              <a:t>.dtypes</a:t>
            </a:r>
            <a:r>
              <a:rPr b="1"/>
              <a:t> early</a:t>
            </a:r>
            <a:r>
              <a:rPr/>
              <a:t> — </a:t>
            </a:r>
            <a:r>
              <a:rPr>
                <a:latin typeface="Courier"/>
              </a:rPr>
              <a:t>object</a:t>
            </a:r>
            <a:r>
              <a:rPr/>
              <a:t> on a numeric column means trouble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What’s next</a:t>
            </a:r>
          </a:p>
          <a:p>
            <a:pPr lvl="0" indent="0" marL="0">
              <a:buNone/>
            </a:pPr>
            <a:r>
              <a:rPr b="1"/>
              <a:t>Module 5: Machine learning with scikit-learn</a:t>
            </a:r>
          </a:p>
          <a:p>
            <a:pPr lvl="0"/>
            <a:r>
              <a:rPr/>
              <a:t>Supervised learning (regression, classification)</a:t>
            </a:r>
          </a:p>
          <a:p>
            <a:pPr lvl="0"/>
            <a:r>
              <a:rPr/>
              <a:t>Training, evaluation, cross-validation</a:t>
            </a:r>
          </a:p>
          <a:p>
            <a:pPr lvl="0"/>
            <a:r>
              <a:rPr/>
              <a:t>Everything feeds off the Pandas pipelines you just learned</a:t>
            </a:r>
          </a:p>
          <a:p>
            <a:pPr lvl="0" indent="0" marL="0">
              <a:buNone/>
            </a:pPr>
            <a:r>
              <a:rPr/>
              <a:t>Clean data in, good models out. That’s the whole game.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with Pandas</dc:title>
  <dc:creator>Speedykom Group GmbH</dc:creator>
  <cp:keywords/>
  <dcterms:created xsi:type="dcterms:W3CDTF">2026-04-06T20:16:10Z</dcterms:created>
  <dcterms:modified xsi:type="dcterms:W3CDTF">2026-04-06T20:16:10Z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jupyter">
    <vt:lpwstr>python3</vt:lpwstr>
  </property>
  <property fmtid="{D5CDD505-2E9C-101B-9397-08002B2CF9AE}" pid="11" name="labels">
    <vt:lpwstr/>
  </property>
  <property fmtid="{D5CDD505-2E9C-101B-9397-08002B2CF9AE}" pid="12" name="subtitle">
    <vt:lpwstr>From raw data to model-ready pipelines</vt:lpwstr>
  </property>
  <property fmtid="{D5CDD505-2E9C-101B-9397-08002B2CF9AE}" pid="13" name="toc-title">
    <vt:lpwstr>Table of contents</vt:lpwstr>
  </property>
</Properties>
</file>