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sldSz cx="12192000" cy="68580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40" Type="http://schemas.openxmlformats.org/officeDocument/2006/relationships/viewProps" Target="viewProps.xml" /><Relationship Id="rId3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42" Type="http://schemas.openxmlformats.org/officeDocument/2006/relationships/tableStyles" Target="tableStyles.xml" /><Relationship Id="rId41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597819"/>
            <a:ext cx="103632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2914650"/>
            <a:ext cx="85344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3305176"/>
            <a:ext cx="103632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180035"/>
            <a:ext cx="103632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200151"/>
            <a:ext cx="53848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200151"/>
            <a:ext cx="53848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151335"/>
            <a:ext cx="5386917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1631156"/>
            <a:ext cx="5386917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151335"/>
            <a:ext cx="5389033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1631156"/>
            <a:ext cx="5389033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550000"/>
            <a:ext cx="4011084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550000"/>
            <a:ext cx="6815666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076326"/>
            <a:ext cx="4011084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3600450"/>
            <a:ext cx="73152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550000"/>
            <a:ext cx="73152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4025503"/>
            <a:ext cx="73152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550000"/>
            <a:ext cx="27432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550000"/>
            <a:ext cx="80264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Logo" Target="../media/image1.png" Type="http://schemas.openxmlformats.org/officeDocument/2006/relationships/image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pic>
        <p:nvPicPr>
          <p:cNvPr id="99" name="Logo"/>
          <p:cNvPicPr>
            <a:picLocks noChangeAspect="1"/>
          </p:cNvPicPr>
          <p:nvPr userDrawn="1"/>
        </p:nvPicPr>
        <p:blipFill>
          <a:blip r:embed="rIdLogo"/>
          <a:stretch>
            <a:fillRect/>
          </a:stretch>
        </p:blipFill>
        <p:spPr>
          <a:xfrm>
            <a:off x="365760" y="182880"/>
            <a:ext cx="1097280" cy="32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597819"/>
            <a:ext cx="103632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Machine Learning Foundations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828800" y="2914650"/>
            <a:ext cx="85344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From linear regression to ensemble methods</a:t>
            </a:r>
            <a:br/>
            <a:br/>
            <a:r>
              <a:rPr/>
              <a:t>Speedykom Group GmbH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is machine learning?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 traditional programming, you write the rules. In ML, you show the computer examples and it discovers the rules itself.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Traditional programming vs. ML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Traditional: YOU write the rules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temperature 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30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"Hot day!"</a:t>
            </a:r>
            <a:r>
              <a:rPr>
                <a:latin typeface="Courier"/>
              </a:rPr>
              <a:t>)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ML: The COMPUTER discovers the rules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You provide: (temperature, "hot"), (temperature, "cool")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Model learns the threshold from data</a:t>
            </a:r>
          </a:p>
          <a:p>
            <a:pPr lvl="0" indent="0" marL="0">
              <a:buNone/>
            </a:pPr>
            <a:r>
              <a:rPr b="1"/>
              <a:t>Definition:</a:t>
            </a:r>
            <a:r>
              <a:rPr/>
              <a:t> Machine learning is the science of getting computers to learn patterns from data instead of following explicit instructions.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Three branches of ML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762500" y="546100"/>
          <a:ext cx="68072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3300"/>
                <a:gridCol w="2273300"/>
                <a:gridCol w="22733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What it does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Example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Supervised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Learn from labeled examples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Predict house prices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Unsupervised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Find patterns in unlabeled data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Customer segmentation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Reinforcement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Learn through trial and error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Self-driving cars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course focuses on </a:t>
            </a:r>
            <a:r>
              <a:rPr b="1"/>
              <a:t>supervised learning</a:t>
            </a:r>
            <a:r>
              <a:rPr/>
              <a:t> — the most common type in production.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Two supervised learning tasks</a:t>
            </a:r>
          </a:p>
          <a:p>
            <a:pPr lvl="0" indent="0" marL="0">
              <a:buNone/>
            </a:pPr>
            <a:r>
              <a:rPr b="1"/>
              <a:t>Regression</a:t>
            </a:r>
            <a:r>
              <a:rPr/>
              <a:t> — predict continuous numbers:</a:t>
            </a:r>
          </a:p>
          <a:p>
            <a:pPr lvl="0"/>
            <a:r>
              <a:rPr/>
              <a:t>House price: ₵250,000</a:t>
            </a:r>
          </a:p>
          <a:p>
            <a:pPr lvl="0"/>
            <a:r>
              <a:rPr/>
              <a:t>Temperature: 25.3°C</a:t>
            </a:r>
          </a:p>
          <a:p>
            <a:pPr lvl="0"/>
            <a:r>
              <a:rPr/>
              <a:t>Sales: 1,250 units</a:t>
            </a:r>
          </a:p>
          <a:p>
            <a:pPr lvl="0" indent="0" marL="0">
              <a:buNone/>
            </a:pPr>
            <a:r>
              <a:rPr b="1"/>
              <a:t>Classification</a:t>
            </a:r>
            <a:r>
              <a:rPr/>
              <a:t> — predict categories:</a:t>
            </a:r>
          </a:p>
          <a:p>
            <a:pPr lvl="0"/>
            <a:r>
              <a:rPr/>
              <a:t>Email: spam vs. not spam</a:t>
            </a:r>
          </a:p>
          <a:p>
            <a:pPr lvl="0"/>
            <a:r>
              <a:rPr/>
              <a:t>Image: cat vs. dog</a:t>
            </a:r>
          </a:p>
          <a:p>
            <a:pPr lvl="0"/>
            <a:r>
              <a:rPr/>
              <a:t>Medical test: positive vs. negative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Linear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Drawing the best line through data.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The math: y = mx + c</a:t>
                </a:r>
              </a:p>
              <a:p>
                <a:pPr lvl="0" indent="0" marL="0">
                  <a:buNone/>
                </a:pPr>
                <a:r>
                  <a:rPr/>
                  <a:t>Every straight line has a slope and an intercept.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̂"/>
                        </m:accPr>
                        <m:e>
                          <m:r>
                            <m:t>y</m:t>
                          </m:r>
                        </m:e>
                      </m:acc>
                      <m:r>
                        <m:rPr>
                          <m:sty m:val="p"/>
                        </m:rPr>
                        <m:t>=</m:t>
                      </m:r>
                      <m:r>
                        <m:t>b</m:t>
                      </m:r>
                      <m:r>
                        <m:rPr>
                          <m:sty m:val="p"/>
                        </m:rPr>
                        <m:t>+</m:t>
                      </m:r>
                      <m:r>
                        <m:t>w</m:t>
                      </m:r>
                      <m:r>
                        <m:t>x</m:t>
                      </m:r>
                    </m:oMath>
                  </m:oMathPara>
                </a14:m>
              </a:p>
              <a:p>
                <a:pPr lvl="0"/>
                <a14:m>
                  <m:oMath xmlns:m="http://schemas.openxmlformats.org/officeDocument/2006/math">
                    <m:acc>
                      <m:accPr>
                        <m:chr m:val="̂"/>
                      </m:accPr>
                      <m:e>
                        <m:r>
                          <m:t>y</m:t>
                        </m:r>
                      </m:e>
                    </m:acc>
                  </m:oMath>
                </a14:m>
                <a:r>
                  <a:rPr/>
                  <a:t> = predicted value</a:t>
                </a:r>
              </a:p>
              <a:p>
                <a:pPr lvl="0"/>
                <a14:m>
                  <m:oMath xmlns:m="http://schemas.openxmlformats.org/officeDocument/2006/math">
                    <m:r>
                      <m:t>b</m:t>
                    </m:r>
                  </m:oMath>
                </a14:m>
                <a:r>
                  <a:rPr/>
                  <a:t> = bias (intercept — baseline when x is zero)</a:t>
                </a:r>
              </a:p>
              <a:p>
                <a:pPr lvl="0"/>
                <a14:m>
                  <m:oMath xmlns:m="http://schemas.openxmlformats.org/officeDocument/2006/math">
                    <m:r>
                      <m:t>w</m:t>
                    </m:r>
                  </m:oMath>
                </a14:m>
                <a:r>
                  <a:rPr/>
                  <a:t> = weight (slope — how much y changes per unit of x)</a:t>
                </a:r>
              </a:p>
              <a:p>
                <a:pPr lvl="0"/>
                <a14:m>
                  <m:oMath xmlns:m="http://schemas.openxmlformats.org/officeDocument/2006/math">
                    <m:r>
                      <m:t>x</m:t>
                    </m:r>
                  </m:oMath>
                </a14:m>
                <a:r>
                  <a:rPr/>
                  <a:t> = input feature</a:t>
                </a:r>
              </a:p>
              <a:p>
                <a:pPr lvl="0" indent="0" marL="1270000">
                  <a:buNone/>
                </a:pPr>
                <a:r>
                  <a:rPr sz="2000" b="1"/>
                  <a:t>Tip</a:t>
                </a:r>
              </a:p>
              <a:p>
                <a:pPr lvl="0" indent="0" marL="1270000">
                  <a:buNone/>
                </a:pPr>
                <a:r>
                  <a:rPr sz="2000" b="1"/>
                  <a:t>The taxi fare analogy:</a:t>
                </a:r>
                <a:r>
                  <a:rPr sz="2000"/>
                  <a:t> Fare = Base fee + (Rate per km x Distance). ML does this in reverse — it looks at 1,000 past receipts and figures out the base fee and rate automatically.</a:t>
                </a:r>
              </a:p>
            </p:txBody>
          </p:sp>
        </mc:Choice>
      </mc:AlternateContent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Training a model in scikit-learn</a:t>
            </a:r>
          </a:p>
          <a:p>
            <a:pPr lvl="0" indent="0">
              <a:buNone/>
            </a:pPr>
            <a:r>
              <a:rPr b="1">
                <a:solidFill>
                  <a:srgbClr val="00800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sklearn.linear_model </a:t>
            </a:r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LinearRegression</a:t>
            </a:r>
            <a:br/>
            <a:r>
              <a:rPr b="1">
                <a:solidFill>
                  <a:srgbClr val="00800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sklearn.model_selection </a:t>
            </a:r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train_test_split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Prepare data</a:t>
            </a:r>
            <a:br/>
            <a:r>
              <a:rPr>
                <a:latin typeface="Courier"/>
              </a:rPr>
              <a:t>X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df[[</a:t>
            </a:r>
            <a:r>
              <a:rPr>
                <a:solidFill>
                  <a:srgbClr val="4070A0"/>
                </a:solidFill>
                <a:latin typeface="Courier"/>
              </a:rPr>
              <a:t>'size_sqm'</a:t>
            </a:r>
            <a:r>
              <a:rPr>
                <a:latin typeface="Courier"/>
              </a:rPr>
              <a:t>]]   </a:t>
            </a:r>
            <a:r>
              <a:rPr i="1">
                <a:solidFill>
                  <a:srgbClr val="60A0B0"/>
                </a:solidFill>
                <a:latin typeface="Courier"/>
              </a:rPr>
              <a:t># features (2D)</a:t>
            </a:r>
            <a:br/>
            <a:r>
              <a:rPr>
                <a:latin typeface="Courier"/>
              </a:rPr>
              <a:t>y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df[</a:t>
            </a:r>
            <a:r>
              <a:rPr>
                <a:solidFill>
                  <a:srgbClr val="4070A0"/>
                </a:solidFill>
                <a:latin typeface="Courier"/>
              </a:rPr>
              <a:t>'price_ghs'</a:t>
            </a:r>
            <a:r>
              <a:rPr>
                <a:latin typeface="Courier"/>
              </a:rPr>
              <a:t>]     </a:t>
            </a:r>
            <a:r>
              <a:rPr i="1">
                <a:solidFill>
                  <a:srgbClr val="60A0B0"/>
                </a:solidFill>
                <a:latin typeface="Courier"/>
              </a:rPr>
              <a:t># target (1D)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Split: 80% train, 20% test</a:t>
            </a:r>
            <a:br/>
            <a:r>
              <a:rPr>
                <a:latin typeface="Courier"/>
              </a:rPr>
              <a:t>X_train, X_test, y_train, y_test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train_test_split(</a:t>
            </a:r>
            <a:br/>
            <a:r>
              <a:rPr>
                <a:latin typeface="Courier"/>
              </a:rPr>
              <a:t>    X, y, test_size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0.2</a:t>
            </a:r>
            <a:r>
              <a:rPr>
                <a:latin typeface="Courier"/>
              </a:rPr>
              <a:t>, random_state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42</a:t>
            </a:r>
            <a:br/>
            <a:r>
              <a:rPr>
                <a:latin typeface="Courier"/>
              </a:rPr>
              <a:t>)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Train</a:t>
            </a:r>
            <a:br/>
            <a:r>
              <a:rPr>
                <a:latin typeface="Courier"/>
              </a:rPr>
              <a:t>model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LinearRegression()</a:t>
            </a:r>
            <a:br/>
            <a:r>
              <a:rPr>
                <a:latin typeface="Courier"/>
              </a:rPr>
              <a:t>model.fit(X_train, y_train)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Inspect what the model learned</a:t>
            </a:r>
            <a:br/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BB6688"/>
                </a:solidFill>
                <a:latin typeface="Courier"/>
              </a:rPr>
              <a:t>f"Weight: ₵</a:t>
            </a:r>
            <a:r>
              <a:rPr>
                <a:solidFill>
                  <a:srgbClr val="4070A0"/>
                </a:solidFill>
                <a:latin typeface="Courier"/>
              </a:rPr>
              <a:t>{</a:t>
            </a:r>
            <a:r>
              <a:rPr>
                <a:latin typeface="Courier"/>
              </a:rPr>
              <a:t>model</a:t>
            </a:r>
            <a:r>
              <a:rPr>
                <a:solidFill>
                  <a:srgbClr val="4070A0"/>
                </a:solidFill>
                <a:latin typeface="Courier"/>
              </a:rPr>
              <a:t>.</a:t>
            </a:r>
            <a:r>
              <a:rPr>
                <a:latin typeface="Courier"/>
              </a:rPr>
              <a:t>coef_[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]</a:t>
            </a:r>
            <a:r>
              <a:rPr>
                <a:solidFill>
                  <a:srgbClr val="4070A0"/>
                </a:solidFill>
                <a:latin typeface="Courier"/>
              </a:rPr>
              <a:t>:,.2f}</a:t>
            </a:r>
            <a:r>
              <a:rPr>
                <a:solidFill>
                  <a:srgbClr val="BB6688"/>
                </a:solidFill>
                <a:latin typeface="Courier"/>
              </a:rPr>
              <a:t> per sqm"</a:t>
            </a:r>
            <a:r>
              <a:rPr>
                <a:latin typeface="Courier"/>
              </a:rPr>
              <a:t>)</a:t>
            </a:r>
            <a:br/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BB6688"/>
                </a:solidFill>
                <a:latin typeface="Courier"/>
              </a:rPr>
              <a:t>f"Bias: ₵</a:t>
            </a:r>
            <a:r>
              <a:rPr>
                <a:solidFill>
                  <a:srgbClr val="4070A0"/>
                </a:solidFill>
                <a:latin typeface="Courier"/>
              </a:rPr>
              <a:t>{</a:t>
            </a:r>
            <a:r>
              <a:rPr>
                <a:latin typeface="Courier"/>
              </a:rPr>
              <a:t>model</a:t>
            </a:r>
            <a:r>
              <a:rPr>
                <a:solidFill>
                  <a:srgbClr val="4070A0"/>
                </a:solidFill>
                <a:latin typeface="Courier"/>
              </a:rPr>
              <a:t>.</a:t>
            </a:r>
            <a:r>
              <a:rPr>
                <a:latin typeface="Courier"/>
              </a:rPr>
              <a:t>intercept_</a:t>
            </a:r>
            <a:r>
              <a:rPr>
                <a:solidFill>
                  <a:srgbClr val="4070A0"/>
                </a:solidFill>
                <a:latin typeface="Courier"/>
              </a:rPr>
              <a:t>:,.2f}</a:t>
            </a:r>
            <a:r>
              <a:rPr>
                <a:solidFill>
                  <a:srgbClr val="BB6688"/>
                </a:solidFill>
                <a:latin typeface="Courier"/>
              </a:rPr>
              <a:t>"</a:t>
            </a:r>
            <a:r>
              <a:rPr>
                <a:latin typeface="Courier"/>
              </a:rPr>
              <a:t>)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Evaluating with R²</a:t>
                </a:r>
              </a:p>
              <a:p>
                <a:pPr lvl="0" indent="0" marL="0">
                  <a:buNone/>
                </a:pPr>
                <a:r>
                  <a:rPr/>
                  <a:t>The </a:t>
                </a:r>
                <a:r>
                  <a:rPr b="1"/>
                  <a:t>R² score</a:t>
                </a:r>
                <a:r>
                  <a:rPr/>
                  <a:t> tells you how well the model fits:</a:t>
                </a:r>
              </a:p>
              <a:p>
                <a:pPr lvl="0"/>
                <a:r>
                  <a:rPr b="1"/>
                  <a:t>R² = 1.0</a:t>
                </a:r>
                <a:r>
                  <a:rPr/>
                  <a:t> — perfect prediction</a:t>
                </a:r>
              </a:p>
              <a:p>
                <a:pPr lvl="0"/>
                <a:r>
                  <a:rPr b="1"/>
                  <a:t>R² = 0.0</a:t>
                </a:r>
                <a:r>
                  <a:rPr/>
                  <a:t> — no better than guessing the mean</a:t>
                </a:r>
              </a:p>
              <a:p>
                <a:pPr lvl="0"/>
                <a:r>
                  <a:rPr b="1"/>
                  <a:t>R² = 0.85</a:t>
                </a:r>
                <a:r>
                  <a:rPr/>
                  <a:t> — 85% of variation explained</a:t>
                </a:r>
              </a:p>
              <a:p>
                <a:pPr lvl="0" indent="0">
                  <a:buNone/>
                </a:pPr>
                <a:r>
                  <a:rPr b="1">
                    <a:solidFill>
                      <a:srgbClr val="008000"/>
                    </a:solidFill>
                    <a:latin typeface="Courier"/>
                  </a:rPr>
                  <a:t>from</a:t>
                </a:r>
                <a:r>
                  <a:rPr>
                    <a:latin typeface="Courier"/>
                  </a:rPr>
                  <a:t> sklearn.metrics </a:t>
                </a:r>
                <a:r>
                  <a:rPr b="1">
                    <a:solidFill>
                      <a:srgbClr val="008000"/>
                    </a:solidFill>
                    <a:latin typeface="Courier"/>
                  </a:rPr>
                  <a:t>import</a:t>
                </a:r>
                <a:r>
                  <a:rPr>
                    <a:latin typeface="Courier"/>
                  </a:rPr>
                  <a:t> r2_score, mean_squared_error</a:t>
                </a:r>
                <a:br/>
                <a:br/>
                <a:r>
                  <a:rPr>
                    <a:latin typeface="Courier"/>
                  </a:rPr>
                  <a:t>y_pred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=</a:t>
                </a:r>
                <a:r>
                  <a:rPr>
                    <a:latin typeface="Courier"/>
                  </a:rPr>
                  <a:t> model.predict(X_test)</a:t>
                </a:r>
                <a:br/>
                <a:r>
                  <a:rPr>
                    <a:solidFill>
                      <a:srgbClr val="008000"/>
                    </a:solidFill>
                    <a:latin typeface="Courier"/>
                  </a:rPr>
                  <a:t>print</a:t>
                </a:r>
                <a:r>
                  <a:rPr>
                    <a:latin typeface="Courier"/>
                  </a:rPr>
                  <a:t>(</a:t>
                </a:r>
                <a:r>
                  <a:rPr>
                    <a:solidFill>
                      <a:srgbClr val="BB6688"/>
                    </a:solidFill>
                    <a:latin typeface="Courier"/>
                  </a:rPr>
                  <a:t>f"R²: </a:t>
                </a:r>
                <a:r>
                  <a:rPr>
                    <a:solidFill>
                      <a:srgbClr val="4070A0"/>
                    </a:solidFill>
                    <a:latin typeface="Courier"/>
                  </a:rPr>
                  <a:t>{</a:t>
                </a:r>
                <a:r>
                  <a:rPr>
                    <a:latin typeface="Courier"/>
                  </a:rPr>
                  <a:t>r2_score(y_test, y_pred)</a:t>
                </a:r>
                <a:r>
                  <a:rPr>
                    <a:solidFill>
                      <a:srgbClr val="4070A0"/>
                    </a:solidFill>
                    <a:latin typeface="Courier"/>
                  </a:rPr>
                  <a:t>:.3f}</a:t>
                </a:r>
                <a:r>
                  <a:rPr>
                    <a:solidFill>
                      <a:srgbClr val="BB6688"/>
                    </a:solidFill>
                    <a:latin typeface="Courier"/>
                  </a:rPr>
                  <a:t>"</a:t>
                </a:r>
                <a:r>
                  <a:rPr>
                    <a:latin typeface="Courier"/>
                  </a:rPr>
                  <a:t>)</a:t>
                </a:r>
                <a:br/>
                <a:r>
                  <a:rPr>
                    <a:solidFill>
                      <a:srgbClr val="008000"/>
                    </a:solidFill>
                    <a:latin typeface="Courier"/>
                  </a:rPr>
                  <a:t>print</a:t>
                </a:r>
                <a:r>
                  <a:rPr>
                    <a:latin typeface="Courier"/>
                  </a:rPr>
                  <a:t>(</a:t>
                </a:r>
                <a:r>
                  <a:rPr>
                    <a:solidFill>
                      <a:srgbClr val="BB6688"/>
                    </a:solidFill>
                    <a:latin typeface="Courier"/>
                  </a:rPr>
                  <a:t>f"MSE: </a:t>
                </a:r>
                <a:r>
                  <a:rPr>
                    <a:solidFill>
                      <a:srgbClr val="4070A0"/>
                    </a:solidFill>
                    <a:latin typeface="Courier"/>
                  </a:rPr>
                  <a:t>{</a:t>
                </a:r>
                <a:r>
                  <a:rPr>
                    <a:latin typeface="Courier"/>
                  </a:rPr>
                  <a:t>mean_squared_error(y_test, y_pred)</a:t>
                </a:r>
                <a:r>
                  <a:rPr>
                    <a:solidFill>
                      <a:srgbClr val="4070A0"/>
                    </a:solidFill>
                    <a:latin typeface="Courier"/>
                  </a:rPr>
                  <a:t>:,.0f}</a:t>
                </a:r>
                <a:r>
                  <a:rPr>
                    <a:solidFill>
                      <a:srgbClr val="BB6688"/>
                    </a:solidFill>
                    <a:latin typeface="Courier"/>
                  </a:rPr>
                  <a:t>"</a:t>
                </a:r>
                <a:r>
                  <a:rPr>
                    <a:latin typeface="Courier"/>
                  </a:rPr>
                  <a:t>)</a:t>
                </a:r>
              </a:p>
              <a:p>
                <a:pPr lvl="0" indent="0" marL="0">
                  <a:buNone/>
                </a:pPr>
                <a14:m>
                  <m:oMath xmlns:m="http://schemas.openxmlformats.org/officeDocument/2006/math">
                    <m:acc>
                      <m:accPr>
                        <m:chr m:val="̂"/>
                      </m:accPr>
                      <m:e>
                        <m:r>
                          <m:t>y</m:t>
                        </m:r>
                      </m:e>
                    </m:acc>
                  </m:oMath>
                </a14:m>
                <a:r>
                  <a:rPr/>
                  <a:t> (with hat) = prediction. </a:t>
                </a:r>
                <a14:m>
                  <m:oMath xmlns:m="http://schemas.openxmlformats.org/officeDocument/2006/math">
                    <m:r>
                      <m:t>y</m:t>
                    </m:r>
                  </m:oMath>
                </a14:m>
                <a:r>
                  <a:rPr/>
                  <a:t> (without hat) = actual value. The error is the gap between them.</a:t>
                </a:r>
              </a:p>
            </p:txBody>
          </p:sp>
        </mc:Choice>
      </mc:AlternateContent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Multiple features</a:t>
                </a:r>
              </a:p>
              <a:p>
                <a:pPr lvl="0" indent="0" marL="0">
                  <a:buNone/>
                </a:pPr>
                <a:r>
                  <a:rPr/>
                  <a:t>Real houses have more than size. Add rooms and location: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̂"/>
                        </m:accPr>
                        <m:e>
                          <m:r>
                            <m:t>y</m:t>
                          </m:r>
                        </m:e>
                      </m:acc>
                      <m:r>
                        <m:rPr>
                          <m:sty m:val="p"/>
                        </m:rPr>
                        <m:t>=</m:t>
                      </m:r>
                      <m:r>
                        <m:t>b</m:t>
                      </m:r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w</m:t>
                          </m:r>
                        </m:e>
                        <m:sub>
                          <m:r>
                            <m:t>1</m:t>
                          </m:r>
                        </m:sub>
                      </m:sSub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w</m:t>
                          </m:r>
                        </m:e>
                        <m:sub>
                          <m:r>
                            <m:t>2</m:t>
                          </m:r>
                        </m:sub>
                      </m:sSub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w</m:t>
                          </m:r>
                        </m:e>
                        <m:sub>
                          <m:r>
                            <m:t>3</m:t>
                          </m:r>
                        </m:sub>
                      </m:sSub>
                      <m:sSub>
                        <m:e>
                          <m:r>
                            <m:t>x</m:t>
                          </m:r>
                        </m:e>
                        <m:sub>
                          <m:r>
                            <m:t>3</m:t>
                          </m:r>
                        </m:sub>
                      </m:sSub>
                    </m:oMath>
                  </m:oMathPara>
                </a14:m>
              </a:p>
              <a:p>
                <a:pPr lvl="0" indent="0">
                  <a:buNone/>
                </a:pPr>
                <a:r>
                  <a:rPr i="1">
                    <a:solidFill>
                      <a:srgbClr val="60A0B0"/>
                    </a:solidFill>
                    <a:latin typeface="Courier"/>
                  </a:rPr>
                  <a:t># One-hot encode categorical features</a:t>
                </a:r>
                <a:br/>
                <a:r>
                  <a:rPr>
                    <a:latin typeface="Courier"/>
                  </a:rPr>
                  <a:t>df_encoded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=</a:t>
                </a:r>
                <a:r>
                  <a:rPr>
                    <a:latin typeface="Courier"/>
                  </a:rPr>
                  <a:t> pd.get_dummies(df, columns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=</a:t>
                </a:r>
                <a:r>
                  <a:rPr>
                    <a:latin typeface="Courier"/>
                  </a:rPr>
                  <a:t>[</a:t>
                </a:r>
                <a:r>
                  <a:rPr>
                    <a:solidFill>
                      <a:srgbClr val="4070A0"/>
                    </a:solidFill>
                    <a:latin typeface="Courier"/>
                  </a:rPr>
                  <a:t>'location'</a:t>
                </a:r>
                <a:r>
                  <a:rPr>
                    <a:latin typeface="Courier"/>
                  </a:rPr>
                  <a:t>], prefix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=</a:t>
                </a:r>
                <a:r>
                  <a:rPr>
                    <a:solidFill>
                      <a:srgbClr val="4070A0"/>
                    </a:solidFill>
                    <a:latin typeface="Courier"/>
                  </a:rPr>
                  <a:t>'loc'</a:t>
                </a:r>
                <a:r>
                  <a:rPr>
                    <a:latin typeface="Courier"/>
                  </a:rPr>
                  <a:t>)</a:t>
                </a:r>
                <a:br/>
                <a:br/>
                <a:r>
                  <a:rPr i="1">
                    <a:solidFill>
                      <a:srgbClr val="60A0B0"/>
                    </a:solidFill>
                    <a:latin typeface="Courier"/>
                  </a:rPr>
                  <a:t># Train with all features</a:t>
                </a:r>
                <a:br/>
                <a:r>
                  <a:rPr>
                    <a:latin typeface="Courier"/>
                  </a:rPr>
                  <a:t>X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=</a:t>
                </a:r>
                <a:r>
                  <a:rPr>
                    <a:latin typeface="Courier"/>
                  </a:rPr>
                  <a:t> df_encoded[[</a:t>
                </a:r>
                <a:r>
                  <a:rPr>
                    <a:solidFill>
                      <a:srgbClr val="4070A0"/>
                    </a:solidFill>
                    <a:latin typeface="Courier"/>
                  </a:rPr>
                  <a:t>'size_sqm'</a:t>
                </a:r>
                <a:r>
                  <a:rPr>
                    <a:latin typeface="Courier"/>
                  </a:rPr>
                  <a:t>, </a:t>
                </a:r>
                <a:r>
                  <a:rPr>
                    <a:solidFill>
                      <a:srgbClr val="4070A0"/>
                    </a:solidFill>
                    <a:latin typeface="Courier"/>
                  </a:rPr>
                  <a:t>'num_rooms'</a:t>
                </a:r>
                <a:r>
                  <a:rPr>
                    <a:latin typeface="Courier"/>
                  </a:rPr>
                  <a:t>, </a:t>
                </a:r>
                <a:r>
                  <a:rPr>
                    <a:solidFill>
                      <a:srgbClr val="4070A0"/>
                    </a:solidFill>
                    <a:latin typeface="Courier"/>
                  </a:rPr>
                  <a:t>'loc_Accra'</a:t>
                </a:r>
                <a:r>
                  <a:rPr>
                    <a:latin typeface="Courier"/>
                  </a:rPr>
                  <a:t>, </a:t>
                </a:r>
                <a:r>
                  <a:rPr>
                    <a:solidFill>
                      <a:srgbClr val="4070A0"/>
                    </a:solidFill>
                    <a:latin typeface="Courier"/>
                  </a:rPr>
                  <a:t>'loc_Kumasi'</a:t>
                </a:r>
                <a:r>
                  <a:rPr>
                    <a:latin typeface="Courier"/>
                  </a:rPr>
                  <a:t>]]</a:t>
                </a:r>
                <a:br/>
                <a:r>
                  <a:rPr>
                    <a:latin typeface="Courier"/>
                  </a:rPr>
                  <a:t>y </a:t>
                </a:r>
                <a:r>
                  <a:rPr>
                    <a:solidFill>
                      <a:srgbClr val="666666"/>
                    </a:solidFill>
                    <a:latin typeface="Courier"/>
                  </a:rPr>
                  <a:t>=</a:t>
                </a:r>
                <a:r>
                  <a:rPr>
                    <a:latin typeface="Courier"/>
                  </a:rPr>
                  <a:t> df_encoded[</a:t>
                </a:r>
                <a:r>
                  <a:rPr>
                    <a:solidFill>
                      <a:srgbClr val="4070A0"/>
                    </a:solidFill>
                    <a:latin typeface="Courier"/>
                  </a:rPr>
                  <a:t>'price_ghs'</a:t>
                </a:r>
                <a:r>
                  <a:rPr>
                    <a:latin typeface="Courier"/>
                  </a:rPr>
                  <a:t>]</a:t>
                </a:r>
              </a:p>
            </p:txBody>
          </p:sp>
        </mc:Choice>
      </mc:AlternateContent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Feature scaling</a:t>
            </a:r>
          </a:p>
          <a:p>
            <a:pPr lvl="0" indent="0" marL="0">
              <a:buNone/>
            </a:pPr>
            <a:r>
              <a:rPr/>
              <a:t>Age ranges 18–70. Income ranges 5,000–500,000. Without scaling, the model thinks income is 10,000x more important — just because the numbers are bigger.</a:t>
            </a:r>
          </a:p>
          <a:p>
            <a:pPr lvl="0" indent="0">
              <a:buNone/>
            </a:pPr>
            <a:r>
              <a:rPr b="1">
                <a:solidFill>
                  <a:srgbClr val="00800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sklearn.preprocessing </a:t>
            </a:r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StandardScaler</a:t>
            </a:r>
            <a:br/>
            <a:br/>
            <a:r>
              <a:rPr>
                <a:latin typeface="Courier"/>
              </a:rPr>
              <a:t>scaler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StandardScaler()</a:t>
            </a:r>
            <a:br/>
            <a:r>
              <a:rPr>
                <a:latin typeface="Courier"/>
              </a:rPr>
              <a:t>X_train_scaled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scaler.fit_transform(X_train)</a:t>
            </a:r>
            <a:br/>
            <a:r>
              <a:rPr>
                <a:latin typeface="Courier"/>
              </a:rPr>
              <a:t>X_test_scaled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scaler.transform(X_test)   </a:t>
            </a:r>
            <a:r>
              <a:rPr i="1">
                <a:solidFill>
                  <a:srgbClr val="60A0B0"/>
                </a:solidFill>
                <a:latin typeface="Courier"/>
              </a:rPr>
              <a:t># use transform, not fit_transform</a:t>
            </a:r>
          </a:p>
          <a:p>
            <a:pPr lvl="0" indent="0" marL="0">
              <a:buNone/>
            </a:pPr>
            <a:r>
              <a:rPr b="1"/>
              <a:t>Rule:</a:t>
            </a:r>
            <a:r>
              <a:rPr/>
              <a:t> </a:t>
            </a:r>
            <a:r>
              <a:rPr>
                <a:latin typeface="Courier"/>
              </a:rPr>
              <a:t>fit_transform</a:t>
            </a:r>
            <a:r>
              <a:rPr/>
              <a:t> on training data. </a:t>
            </a:r>
            <a:r>
              <a:rPr>
                <a:latin typeface="Courier"/>
              </a:rPr>
              <a:t>transform</a:t>
            </a:r>
            <a:r>
              <a:rPr/>
              <a:t> only on test data. Never fit on test data — that’s data leakage.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Classification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Predicting categories instead of numbers.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Regression vs. classification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762500" y="546100"/>
          <a:ext cx="68072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03600"/>
                <a:gridCol w="34036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Classification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House price: ₵250,000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Email: spam or not spam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Output: continuous number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Output: category/label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Loss: MSE, R²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Metric: accuracy, precision, recall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The sigmoid function</a:t>
                </a:r>
              </a:p>
              <a:p>
                <a:pPr lvl="0" indent="0" marL="0">
                  <a:buNone/>
                </a:pPr>
                <a:r>
                  <a:rPr/>
                  <a:t>Linear regression predicts values like -0.3 or 1.7, which don’t make sense as probabilities. The sigmoid squashes any value into [0, 1]: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σ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t>z</m:t>
                      </m:r>
                      <m:r>
                        <m:rPr>
                          <m:sty m:val="p"/>
                        </m:rPr>
                        <m:t>)</m:t>
                      </m:r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1</m:t>
                          </m:r>
                        </m:num>
                        <m:den>
                          <m:r>
                            <m:t>1</m:t>
                          </m:r>
                          <m:r>
                            <m:rPr>
                              <m:sty m:val="p"/>
                            </m:rPr>
                            <m:t>+</m:t>
                          </m:r>
                          <m:sSup>
                            <m:e>
                              <m:r>
                                <m:t>e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m:t>−</m:t>
                              </m:r>
                              <m:r>
                                <m:t>z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</a:p>
              <a:p>
                <a:pPr lvl="0"/>
                <a:r>
                  <a:rPr/>
                  <a:t>Input = -10 → output ≈ 0</a:t>
                </a:r>
              </a:p>
              <a:p>
                <a:pPr lvl="0"/>
                <a:r>
                  <a:rPr/>
                  <a:t>Input = 0 → output = 0.5</a:t>
                </a:r>
              </a:p>
              <a:p>
                <a:pPr lvl="0"/>
                <a:r>
                  <a:rPr/>
                  <a:t>Input = 10 → output ≈ 1</a:t>
                </a:r>
              </a:p>
              <a:p>
                <a:pPr lvl="0" indent="0" marL="0">
                  <a:buNone/>
                </a:pPr>
                <a:r>
                  <a:rPr b="1"/>
                  <a:t>Dimmer switch analogy:</a:t>
                </a:r>
                <a:r>
                  <a:rPr/>
                  <a:t> The sigmoid gives you a brightness percentage (73%). Then the threshold snaps it to ON or OFF (above 50% = survived).</a:t>
                </a:r>
              </a:p>
            </p:txBody>
          </p:sp>
        </mc:Choice>
      </mc:AlternateContent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Logistic regression in scikit-learn</a:t>
            </a:r>
          </a:p>
          <a:p>
            <a:pPr lvl="0" indent="0">
              <a:buNone/>
            </a:pPr>
            <a:r>
              <a:rPr b="1">
                <a:solidFill>
                  <a:srgbClr val="00800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sklearn.linear_model </a:t>
            </a:r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LogisticRegression</a:t>
            </a:r>
            <a:br/>
            <a:r>
              <a:rPr b="1">
                <a:solidFill>
                  <a:srgbClr val="00800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sklearn.metrics </a:t>
            </a:r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accuracy_score, classification_report</a:t>
            </a:r>
            <a:br/>
            <a:br/>
            <a:r>
              <a:rPr>
                <a:latin typeface="Courier"/>
              </a:rPr>
              <a:t>model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LogisticRegression(max_iter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200</a:t>
            </a:r>
            <a:r>
              <a:rPr>
                <a:latin typeface="Courier"/>
              </a:rPr>
              <a:t>, random_state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42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model.fit(X_train_scaled, y_train)</a:t>
            </a:r>
            <a:br/>
            <a:br/>
            <a:r>
              <a:rPr>
                <a:latin typeface="Courier"/>
              </a:rPr>
              <a:t>y_pred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model.predict(X_test_scaled)</a:t>
            </a:r>
            <a:br/>
            <a:r>
              <a:rPr>
                <a:latin typeface="Courier"/>
              </a:rPr>
              <a:t>y_proba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model.predict_proba(X_test_scaled)</a:t>
            </a:r>
            <a:br/>
            <a:br/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BB6688"/>
                </a:solidFill>
                <a:latin typeface="Courier"/>
              </a:rPr>
              <a:t>f"Accuracy: </a:t>
            </a:r>
            <a:r>
              <a:rPr>
                <a:solidFill>
                  <a:srgbClr val="4070A0"/>
                </a:solidFill>
                <a:latin typeface="Courier"/>
              </a:rPr>
              <a:t>{</a:t>
            </a:r>
            <a:r>
              <a:rPr>
                <a:latin typeface="Courier"/>
              </a:rPr>
              <a:t>accuracy_score(y_test, y_pred)</a:t>
            </a:r>
            <a:r>
              <a:rPr>
                <a:solidFill>
                  <a:srgbClr val="4070A0"/>
                </a:solidFill>
                <a:latin typeface="Courier"/>
              </a:rPr>
              <a:t>:.1%}</a:t>
            </a:r>
            <a:r>
              <a:rPr>
                <a:solidFill>
                  <a:srgbClr val="BB6688"/>
                </a:solidFill>
                <a:latin typeface="Courier"/>
              </a:rPr>
              <a:t>"</a:t>
            </a:r>
            <a:r>
              <a:rPr>
                <a:latin typeface="Courier"/>
              </a:rPr>
              <a:t>)</a:t>
            </a:r>
            <a:br/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(classification_report(y_test, y_pred))</a:t>
            </a:r>
          </a:p>
          <a:p>
            <a:pPr lvl="0" indent="0" marL="0">
              <a:buNone/>
            </a:pPr>
            <a:r>
              <a:rPr>
                <a:latin typeface="Courier"/>
              </a:rPr>
              <a:t>.predict()</a:t>
            </a:r>
            <a:r>
              <a:rPr/>
              <a:t> gives you the class. </a:t>
            </a:r>
            <a:r>
              <a:rPr>
                <a:latin typeface="Courier"/>
              </a:rPr>
              <a:t>.predict_proba()</a:t>
            </a:r>
            <a:r>
              <a:rPr/>
              <a:t> gives you the confidence.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Binary vs. multi-class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762500" y="546100"/>
          <a:ext cx="68072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3300"/>
                <a:gridCol w="2273300"/>
                <a:gridCol w="22733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Aspect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Binary (Titanic)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Multi-class (Iris)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Classes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2 (survived / didn’t)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3 (setosa / versicolor / virginica)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Output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2 probabilities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3 probabilities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Decision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P(class 1) &gt; 0.5?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Highest probability wins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Logistic regression handles both. For multi-class, it uses one-vs-rest — one binary classifier per class.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The ML workflow for classification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1. Load and explore</a:t>
            </a:r>
            <a:br/>
            <a:r>
              <a:rPr>
                <a:latin typeface="Courier"/>
              </a:rPr>
              <a:t>titanic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sns.load_dataset(</a:t>
            </a:r>
            <a:r>
              <a:rPr>
                <a:solidFill>
                  <a:srgbClr val="4070A0"/>
                </a:solidFill>
                <a:latin typeface="Courier"/>
              </a:rPr>
              <a:t>'titanic'</a:t>
            </a:r>
            <a:r>
              <a:rPr>
                <a:latin typeface="Courier"/>
              </a:rPr>
              <a:t>)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2. Clean</a:t>
            </a:r>
            <a:br/>
            <a:r>
              <a:rPr>
                <a:latin typeface="Courier"/>
              </a:rPr>
              <a:t>titanic[</a:t>
            </a:r>
            <a:r>
              <a:rPr>
                <a:solidFill>
                  <a:srgbClr val="4070A0"/>
                </a:solidFill>
                <a:latin typeface="Courier"/>
              </a:rPr>
              <a:t>'age'</a:t>
            </a:r>
            <a:r>
              <a:rPr>
                <a:latin typeface="Courier"/>
              </a:rPr>
              <a:t>]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titanic[</a:t>
            </a:r>
            <a:r>
              <a:rPr>
                <a:solidFill>
                  <a:srgbClr val="4070A0"/>
                </a:solidFill>
                <a:latin typeface="Courier"/>
              </a:rPr>
              <a:t>'age'</a:t>
            </a:r>
            <a:r>
              <a:rPr>
                <a:latin typeface="Courier"/>
              </a:rPr>
              <a:t>].fillna(titanic[</a:t>
            </a:r>
            <a:r>
              <a:rPr>
                <a:solidFill>
                  <a:srgbClr val="4070A0"/>
                </a:solidFill>
                <a:latin typeface="Courier"/>
              </a:rPr>
              <a:t>'age'</a:t>
            </a:r>
            <a:r>
              <a:rPr>
                <a:latin typeface="Courier"/>
              </a:rPr>
              <a:t>].median())</a:t>
            </a:r>
            <a:br/>
            <a:r>
              <a:rPr>
                <a:latin typeface="Courier"/>
              </a:rPr>
              <a:t>titanic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pd.get_dummies(titanic, columns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[</a:t>
            </a:r>
            <a:r>
              <a:rPr>
                <a:solidFill>
                  <a:srgbClr val="4070A0"/>
                </a:solidFill>
                <a:latin typeface="Courier"/>
              </a:rPr>
              <a:t>'sex'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'embarked'</a:t>
            </a:r>
            <a:r>
              <a:rPr>
                <a:latin typeface="Courier"/>
              </a:rPr>
              <a:t>])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3. Split</a:t>
            </a:r>
            <a:br/>
            <a:r>
              <a:rPr>
                <a:latin typeface="Courier"/>
              </a:rPr>
              <a:t>X_train, X_test, y_train, y_test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train_test_split(X, y, test_size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0.2</a:t>
            </a:r>
            <a:r>
              <a:rPr>
                <a:latin typeface="Courier"/>
              </a:rPr>
              <a:t>)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4. Scale</a:t>
            </a:r>
            <a:br/>
            <a:r>
              <a:rPr>
                <a:latin typeface="Courier"/>
              </a:rPr>
              <a:t>scaler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StandardScaler()</a:t>
            </a:r>
            <a:br/>
            <a:r>
              <a:rPr>
                <a:latin typeface="Courier"/>
              </a:rPr>
              <a:t>X_train_scaled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scaler.fit_transform(X_train)</a:t>
            </a:r>
            <a:br/>
            <a:r>
              <a:rPr>
                <a:latin typeface="Courier"/>
              </a:rPr>
              <a:t>X_test_scaled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scaler.transform(X_test)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5. Train and evaluate</a:t>
            </a:r>
            <a:br/>
            <a:r>
              <a:rPr>
                <a:latin typeface="Courier"/>
              </a:rPr>
              <a:t>model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LogisticRegression()</a:t>
            </a:r>
            <a:br/>
            <a:r>
              <a:rPr>
                <a:latin typeface="Courier"/>
              </a:rPr>
              <a:t>model.fit(X_train_scaled, y_train)</a:t>
            </a:r>
            <a:br/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BB6688"/>
                </a:solidFill>
                <a:latin typeface="Courier"/>
              </a:rPr>
              <a:t>f"Accuracy: </a:t>
            </a:r>
            <a:r>
              <a:rPr>
                <a:solidFill>
                  <a:srgbClr val="4070A0"/>
                </a:solidFill>
                <a:latin typeface="Courier"/>
              </a:rPr>
              <a:t>{</a:t>
            </a:r>
            <a:r>
              <a:rPr>
                <a:latin typeface="Courier"/>
              </a:rPr>
              <a:t>accuracy_score(y_test, model.predict(X_test_scaled))</a:t>
            </a:r>
            <a:r>
              <a:rPr>
                <a:solidFill>
                  <a:srgbClr val="4070A0"/>
                </a:solidFill>
                <a:latin typeface="Courier"/>
              </a:rPr>
              <a:t>:.1%}</a:t>
            </a:r>
            <a:r>
              <a:rPr>
                <a:solidFill>
                  <a:srgbClr val="BB6688"/>
                </a:solidFill>
                <a:latin typeface="Courier"/>
              </a:rPr>
              <a:t>"</a:t>
            </a:r>
            <a:r>
              <a:rPr>
                <a:latin typeface="Courier"/>
              </a:rPr>
              <a:t>)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Key preprocessing steps</a:t>
            </a:r>
          </a:p>
          <a:p>
            <a:pPr lvl="0" indent="-342900" marL="342900">
              <a:buAutoNum type="arabicPeriod"/>
            </a:pPr>
            <a:r>
              <a:rPr b="1"/>
              <a:t>Handle missing values</a:t>
            </a:r>
            <a:r>
              <a:rPr/>
              <a:t> — fill with median (numeric) or mode (categorical)</a:t>
            </a:r>
          </a:p>
          <a:p>
            <a:pPr lvl="0" indent="-342900" marL="342900">
              <a:buAutoNum type="arabicPeriod"/>
            </a:pPr>
            <a:r>
              <a:rPr b="1"/>
              <a:t>One-hot encode</a:t>
            </a:r>
            <a:r>
              <a:rPr/>
              <a:t> — convert text categories to 0/1 columns</a:t>
            </a:r>
          </a:p>
          <a:p>
            <a:pPr lvl="0" indent="-342900" marL="342900">
              <a:buAutoNum type="arabicPeriod"/>
            </a:pPr>
            <a:r>
              <a:rPr b="1"/>
              <a:t>Scale features</a:t>
            </a:r>
            <a:r>
              <a:rPr/>
              <a:t> — StandardScaler normalizes everything to the same range</a:t>
            </a:r>
          </a:p>
          <a:p>
            <a:pPr lvl="0" indent="-342900" marL="342900">
              <a:buAutoNum type="arabicPeriod"/>
            </a:pPr>
            <a:r>
              <a:rPr b="1"/>
              <a:t>Train/test split</a:t>
            </a:r>
            <a:r>
              <a:rPr/>
              <a:t> — always evaluate on data the model has never seen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Ensemble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Combining multiple models for better predictions.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The wisdom of crowds</a:t>
            </a:r>
          </a:p>
          <a:p>
            <a:pPr lvl="0" indent="0" marL="0">
              <a:buNone/>
            </a:pPr>
            <a:r>
              <a:rPr/>
              <a:t>Ask one expert to guess an ox’s weight — they might be off. Ask 100 random people and average their guesses — the average is often as accurate as the expert.</a:t>
            </a:r>
          </a:p>
          <a:p>
            <a:pPr lvl="0" indent="0" marL="0">
              <a:buNone/>
            </a:pPr>
            <a:r>
              <a:rPr b="1"/>
              <a:t>Same idea in ML:</a:t>
            </a:r>
            <a:r>
              <a:rPr/>
              <a:t> Train 100 models instead of one. Combine their predictions. Individual errors cancel out.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Two approaches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762500" y="546100"/>
          <a:ext cx="68072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3300"/>
                <a:gridCol w="2273300"/>
                <a:gridCol w="22733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Approach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How it 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Key algorithm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Bagging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Train models independently in parallel, then vote/average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Random Forest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 b="1"/>
                        <a:t>Boosting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Train models sequentially, each fixing previous mistakes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Gradient Boosting, XGBoost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Random Forest — bagging with trees</a:t>
            </a:r>
          </a:p>
          <a:p>
            <a:pPr lvl="0" indent="0" marL="0">
              <a:buNone/>
            </a:pPr>
            <a:r>
              <a:rPr/>
              <a:t>Each tree sees a random subset of data and a random subset of features. The forest averages all their predictions.</a:t>
            </a:r>
          </a:p>
          <a:p>
            <a:pPr lvl="0" indent="0">
              <a:buNone/>
            </a:pPr>
            <a:r>
              <a:rPr b="1">
                <a:solidFill>
                  <a:srgbClr val="00800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sklearn.ensemble </a:t>
            </a:r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RandomForestRegressor</a:t>
            </a:r>
            <a:br/>
            <a:br/>
            <a:r>
              <a:rPr>
                <a:latin typeface="Courier"/>
              </a:rPr>
              <a:t>rf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RandomForestRegressor(</a:t>
            </a:r>
            <a:br/>
            <a:r>
              <a:rPr>
                <a:latin typeface="Courier"/>
              </a:rPr>
              <a:t>    n_estimators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100</a:t>
            </a:r>
            <a:r>
              <a:rPr>
                <a:latin typeface="Courier"/>
              </a:rPr>
              <a:t>,    </a:t>
            </a:r>
            <a:r>
              <a:rPr i="1">
                <a:solidFill>
                  <a:srgbClr val="60A0B0"/>
                </a:solidFill>
                <a:latin typeface="Courier"/>
              </a:rPr>
              <a:t># number of trees</a:t>
            </a:r>
            <a:br/>
            <a:r>
              <a:rPr>
                <a:latin typeface="Courier"/>
              </a:rPr>
              <a:t>    max_depth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10</a:t>
            </a:r>
            <a:r>
              <a:rPr>
                <a:latin typeface="Courier"/>
              </a:rPr>
              <a:t>,        </a:t>
            </a:r>
            <a:r>
              <a:rPr i="1">
                <a:solidFill>
                  <a:srgbClr val="60A0B0"/>
                </a:solidFill>
                <a:latin typeface="Courier"/>
              </a:rPr>
              <a:t># how deep each tree grows</a:t>
            </a:r>
            <a:br/>
            <a:r>
              <a:rPr>
                <a:latin typeface="Courier"/>
              </a:rPr>
              <a:t>    max_features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70A0"/>
                </a:solidFill>
                <a:latin typeface="Courier"/>
              </a:rPr>
              <a:t>'sqrt'</a:t>
            </a:r>
            <a:r>
              <a:rPr>
                <a:latin typeface="Courier"/>
              </a:rPr>
              <a:t>, </a:t>
            </a:r>
            <a:r>
              <a:rPr i="1">
                <a:solidFill>
                  <a:srgbClr val="60A0B0"/>
                </a:solidFill>
                <a:latin typeface="Courier"/>
              </a:rPr>
              <a:t># features per split</a:t>
            </a:r>
            <a:br/>
            <a:r>
              <a:rPr>
                <a:latin typeface="Courier"/>
              </a:rPr>
              <a:t>    random_state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42</a:t>
            </a:r>
            <a:br/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rf.fit(X_train, y_train)</a:t>
            </a:r>
          </a:p>
          <a:p>
            <a:pPr lvl="0" indent="0" marL="0">
              <a:buNone/>
            </a:pPr>
            <a:r>
              <a:rPr b="1"/>
              <a:t>One friend vs. 100 friends:</a:t>
            </a:r>
            <a:r>
              <a:rPr/>
              <a:t> One decision tree is one opinionated friend — might be biased toward gardens. Random Forest asks 100 friends with different perspectives and averages their answers.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Feature importance</a:t>
            </a:r>
          </a:p>
          <a:p>
            <a:pPr lvl="0" indent="0" marL="0">
              <a:buNone/>
            </a:pPr>
            <a:r>
              <a:rPr/>
              <a:t>Random Forest tells you which features matter most.</a:t>
            </a:r>
          </a:p>
          <a:p>
            <a:pPr lvl="0" indent="0">
              <a:buNone/>
            </a:pPr>
            <a:r>
              <a:rPr>
                <a:latin typeface="Courier"/>
              </a:rPr>
              <a:t>importance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pd.DataFrame({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4070A0"/>
                </a:solidFill>
                <a:latin typeface="Courier"/>
              </a:rPr>
              <a:t>'Feature'</a:t>
            </a:r>
            <a:r>
              <a:rPr>
                <a:latin typeface="Courier"/>
              </a:rPr>
              <a:t>: X.columns,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4070A0"/>
                </a:solidFill>
                <a:latin typeface="Courier"/>
              </a:rPr>
              <a:t>'Importance'</a:t>
            </a:r>
            <a:r>
              <a:rPr>
                <a:latin typeface="Courier"/>
              </a:rPr>
              <a:t>: rf.feature_importances_</a:t>
            </a:r>
            <a:br/>
            <a:r>
              <a:rPr>
                <a:latin typeface="Courier"/>
              </a:rPr>
              <a:t>}).sort_values(</a:t>
            </a:r>
            <a:r>
              <a:rPr>
                <a:solidFill>
                  <a:srgbClr val="4070A0"/>
                </a:solidFill>
                <a:latin typeface="Courier"/>
              </a:rPr>
              <a:t>'Importance'</a:t>
            </a:r>
            <a:r>
              <a:rPr>
                <a:latin typeface="Courier"/>
              </a:rPr>
              <a:t>, ascending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19177C"/>
                </a:solidFill>
                <a:latin typeface="Courier"/>
              </a:rPr>
              <a:t>False</a:t>
            </a:r>
            <a:r>
              <a:rPr>
                <a:latin typeface="Courier"/>
              </a:rPr>
              <a:t>)</a:t>
            </a:r>
            <a:br/>
            <a:br/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(importance.head(</a:t>
            </a:r>
            <a:r>
              <a:rPr>
                <a:solidFill>
                  <a:srgbClr val="40A070"/>
                </a:solidFill>
                <a:latin typeface="Courier"/>
              </a:rPr>
              <a:t>10</a:t>
            </a:r>
            <a:r>
              <a:rPr>
                <a:latin typeface="Courier"/>
              </a:rPr>
              <a:t>))</a:t>
            </a:r>
          </a:p>
          <a:p>
            <a:pPr lvl="0" indent="0" marL="0">
              <a:buNone/>
            </a:pPr>
            <a:r>
              <a:rPr/>
              <a:t>This is one of Random Forest’s biggest practical advantages — it explains itself.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Gradient Boosting — learning from mistakes</a:t>
            </a:r>
          </a:p>
          <a:p>
            <a:pPr lvl="0" indent="0" marL="0">
              <a:buNone/>
            </a:pPr>
            <a:r>
              <a:rPr/>
              <a:t>Each new model focuses on the errors the previous models made.</a:t>
            </a:r>
          </a:p>
          <a:p>
            <a:pPr lvl="0" indent="0">
              <a:buNone/>
            </a:pPr>
            <a:r>
              <a:rPr b="1">
                <a:solidFill>
                  <a:srgbClr val="00800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sklearn.ensemble </a:t>
            </a:r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GradientBoostingRegressor</a:t>
            </a:r>
            <a:br/>
            <a:br/>
            <a:r>
              <a:rPr>
                <a:latin typeface="Courier"/>
              </a:rPr>
              <a:t>gb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GradientBoostingRegressor(</a:t>
            </a:r>
            <a:br/>
            <a:r>
              <a:rPr>
                <a:latin typeface="Courier"/>
              </a:rPr>
              <a:t>    n_estimators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100</a:t>
            </a:r>
            <a:r>
              <a:rPr>
                <a:latin typeface="Courier"/>
              </a:rPr>
              <a:t>,</a:t>
            </a:r>
            <a:br/>
            <a:r>
              <a:rPr>
                <a:latin typeface="Courier"/>
              </a:rPr>
              <a:t>    learning_rate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0.1</a:t>
            </a:r>
            <a:r>
              <a:rPr>
                <a:latin typeface="Courier"/>
              </a:rPr>
              <a:t>,   </a:t>
            </a:r>
            <a:r>
              <a:rPr i="1">
                <a:solidFill>
                  <a:srgbClr val="60A0B0"/>
                </a:solidFill>
                <a:latin typeface="Courier"/>
              </a:rPr>
              <a:t># how much each tree contributes</a:t>
            </a:r>
            <a:br/>
            <a:r>
              <a:rPr>
                <a:latin typeface="Courier"/>
              </a:rPr>
              <a:t>    max_depth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latin typeface="Courier"/>
              </a:rPr>
              <a:t>,</a:t>
            </a:r>
            <a:br/>
            <a:r>
              <a:rPr>
                <a:latin typeface="Courier"/>
              </a:rPr>
              <a:t>    random_state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42</a:t>
            </a:r>
            <a:br/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gb.fit(X_train, y_train)</a:t>
            </a:r>
          </a:p>
          <a:p>
            <a:pPr lvl="0" indent="0" marL="0">
              <a:buNone/>
            </a:pPr>
            <a:r>
              <a:rPr b="1"/>
              <a:t>The study group analogy:</a:t>
            </a:r>
            <a:r>
              <a:rPr/>
              <a:t> Ama takes a test, fails interest rate questions. Kwame studies only those questions. Yaa studies what Kwame still got wrong. Together they cover everything.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XGBoost — the state of the art</a:t>
            </a:r>
          </a:p>
          <a:p>
            <a:pPr lvl="0" indent="0" marL="0">
              <a:buNone/>
            </a:pPr>
            <a:r>
              <a:rPr/>
              <a:t>XGBoost adds regularization, parallelization, and automatic handling of missing values on top of gradient boosting.</a:t>
            </a:r>
          </a:p>
          <a:p>
            <a:pPr lvl="0" indent="0">
              <a:buNone/>
            </a:pPr>
            <a:r>
              <a:rPr b="1">
                <a:solidFill>
                  <a:srgbClr val="00800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xgboost </a:t>
            </a:r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XGBRegressor</a:t>
            </a:r>
            <a:br/>
            <a:br/>
            <a:r>
              <a:rPr>
                <a:latin typeface="Courier"/>
              </a:rPr>
              <a:t>xgb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XGBRegressor(</a:t>
            </a:r>
            <a:br/>
            <a:r>
              <a:rPr>
                <a:latin typeface="Courier"/>
              </a:rPr>
              <a:t>    n_estimators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100</a:t>
            </a:r>
            <a:r>
              <a:rPr>
                <a:latin typeface="Courier"/>
              </a:rPr>
              <a:t>,</a:t>
            </a:r>
            <a:br/>
            <a:r>
              <a:rPr>
                <a:latin typeface="Courier"/>
              </a:rPr>
              <a:t>    learning_rate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0.1</a:t>
            </a:r>
            <a:r>
              <a:rPr>
                <a:latin typeface="Courier"/>
              </a:rPr>
              <a:t>,</a:t>
            </a:r>
            <a:br/>
            <a:r>
              <a:rPr>
                <a:latin typeface="Courier"/>
              </a:rPr>
              <a:t>    max_depth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latin typeface="Courier"/>
              </a:rPr>
              <a:t>,</a:t>
            </a:r>
            <a:br/>
            <a:r>
              <a:rPr>
                <a:latin typeface="Courier"/>
              </a:rPr>
              <a:t>    subsample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0.8</a:t>
            </a:r>
            <a:r>
              <a:rPr>
                <a:latin typeface="Courier"/>
              </a:rPr>
              <a:t>,          </a:t>
            </a:r>
            <a:r>
              <a:rPr i="1">
                <a:solidFill>
                  <a:srgbClr val="60A0B0"/>
                </a:solidFill>
                <a:latin typeface="Courier"/>
              </a:rPr>
              <a:t># use 80% of data per tree</a:t>
            </a:r>
            <a:br/>
            <a:r>
              <a:rPr>
                <a:latin typeface="Courier"/>
              </a:rPr>
              <a:t>    colsample_bytree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0.8</a:t>
            </a:r>
            <a:r>
              <a:rPr>
                <a:latin typeface="Courier"/>
              </a:rPr>
              <a:t>,   </a:t>
            </a:r>
            <a:r>
              <a:rPr i="1">
                <a:solidFill>
                  <a:srgbClr val="60A0B0"/>
                </a:solidFill>
                <a:latin typeface="Courier"/>
              </a:rPr>
              <a:t># use 80% of features per tree</a:t>
            </a:r>
            <a:br/>
            <a:r>
              <a:rPr>
                <a:latin typeface="Courier"/>
              </a:rPr>
              <a:t>    random_state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42</a:t>
            </a:r>
            <a:br/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xgb.fit(X_train, y_train)</a:t>
            </a:r>
          </a:p>
          <a:p>
            <a:pPr lvl="0" indent="0" marL="0">
              <a:buNone/>
            </a:pPr>
            <a:r>
              <a:rPr/>
              <a:t>XGBoost wins most Kaggle competitions for tabular data. It’s the default choice when you need the best accuracy.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Bagging vs. boosting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762500" y="546100"/>
          <a:ext cx="68072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0600"/>
                <a:gridCol w="2260600"/>
                <a:gridCol w="22606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Aspect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Bagging (Random Forest)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Boosting (XGBoost)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Training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Parallel (independent)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Sequential (dependent)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Focus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All data, random subsets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Errors from previous round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Overfitting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Less prone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More prone (needs tuning)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Speed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Faster (parallelizable)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Slower (sequential)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Comparing all models</a:t>
            </a:r>
          </a:p>
          <a:p>
            <a:pPr lvl="0" indent="0">
              <a:buNone/>
            </a:pPr>
            <a:r>
              <a:rPr b="1">
                <a:solidFill>
                  <a:srgbClr val="00800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sklearn.tree </a:t>
            </a:r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DecisionTreeRegressor</a:t>
            </a:r>
            <a:br/>
            <a:br/>
            <a:r>
              <a:rPr>
                <a:latin typeface="Courier"/>
              </a:rPr>
              <a:t>models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{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4070A0"/>
                </a:solidFill>
                <a:latin typeface="Courier"/>
              </a:rPr>
              <a:t>'Decision Tree'</a:t>
            </a:r>
            <a:r>
              <a:rPr>
                <a:latin typeface="Courier"/>
              </a:rPr>
              <a:t>: DecisionTreeRegressor(max_depth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latin typeface="Courier"/>
              </a:rPr>
              <a:t>),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4070A0"/>
                </a:solidFill>
                <a:latin typeface="Courier"/>
              </a:rPr>
              <a:t>'Random Forest'</a:t>
            </a:r>
            <a:r>
              <a:rPr>
                <a:latin typeface="Courier"/>
              </a:rPr>
              <a:t>: RandomForestRegressor(n_estimators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100</a:t>
            </a:r>
            <a:r>
              <a:rPr>
                <a:latin typeface="Courier"/>
              </a:rPr>
              <a:t>, max_depth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10</a:t>
            </a:r>
            <a:r>
              <a:rPr>
                <a:latin typeface="Courier"/>
              </a:rPr>
              <a:t>),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4070A0"/>
                </a:solidFill>
                <a:latin typeface="Courier"/>
              </a:rPr>
              <a:t>'Gradient Boosting'</a:t>
            </a:r>
            <a:r>
              <a:rPr>
                <a:latin typeface="Courier"/>
              </a:rPr>
              <a:t>: GradientBoostingRegressor(n_estimators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100</a:t>
            </a:r>
            <a:r>
              <a:rPr>
                <a:latin typeface="Courier"/>
              </a:rPr>
              <a:t>),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4070A0"/>
                </a:solidFill>
                <a:latin typeface="Courier"/>
              </a:rPr>
              <a:t>'XGBoost'</a:t>
            </a:r>
            <a:r>
              <a:rPr>
                <a:latin typeface="Courier"/>
              </a:rPr>
              <a:t>: XGBRegressor(n_estimators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100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}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name, model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models.items():</a:t>
            </a:r>
            <a:br/>
            <a:r>
              <a:rPr>
                <a:latin typeface="Courier"/>
              </a:rPr>
              <a:t>    model.fit(X_train, y_train)</a:t>
            </a:r>
            <a:br/>
            <a:r>
              <a:rPr>
                <a:latin typeface="Courier"/>
              </a:rPr>
              <a:t>    y_pred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model.predict(X_test)</a:t>
            </a:r>
            <a:br/>
            <a:r>
              <a:rPr>
                <a:latin typeface="Courier"/>
              </a:rPr>
              <a:t>    r2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r2_score(y_test, y_pred)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BB6688"/>
                </a:solidFill>
                <a:latin typeface="Courier"/>
              </a:rPr>
              <a:t>f"</a:t>
            </a:r>
            <a:r>
              <a:rPr>
                <a:solidFill>
                  <a:srgbClr val="4070A0"/>
                </a:solidFill>
                <a:latin typeface="Courier"/>
              </a:rPr>
              <a:t>{</a:t>
            </a:r>
            <a:r>
              <a:rPr>
                <a:latin typeface="Courier"/>
              </a:rPr>
              <a:t>name</a:t>
            </a:r>
            <a:r>
              <a:rPr>
                <a:solidFill>
                  <a:srgbClr val="4070A0"/>
                </a:solidFill>
                <a:latin typeface="Courier"/>
              </a:rPr>
              <a:t>}</a:t>
            </a:r>
            <a:r>
              <a:rPr>
                <a:solidFill>
                  <a:srgbClr val="BB6688"/>
                </a:solidFill>
                <a:latin typeface="Courier"/>
              </a:rPr>
              <a:t>: R² = </a:t>
            </a:r>
            <a:r>
              <a:rPr>
                <a:solidFill>
                  <a:srgbClr val="4070A0"/>
                </a:solidFill>
                <a:latin typeface="Courier"/>
              </a:rPr>
              <a:t>{</a:t>
            </a:r>
            <a:r>
              <a:rPr>
                <a:latin typeface="Courier"/>
              </a:rPr>
              <a:t>r2</a:t>
            </a:r>
            <a:r>
              <a:rPr>
                <a:solidFill>
                  <a:srgbClr val="4070A0"/>
                </a:solidFill>
                <a:latin typeface="Courier"/>
              </a:rPr>
              <a:t>:.3f}</a:t>
            </a:r>
            <a:r>
              <a:rPr>
                <a:solidFill>
                  <a:srgbClr val="BB6688"/>
                </a:solidFill>
                <a:latin typeface="Courier"/>
              </a:rPr>
              <a:t>"</a:t>
            </a:r>
            <a:r>
              <a:rPr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/>
              <a:t>Ensembles almost always beat single models. Random Forest and XGBoost are the two you’ll reach for first.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Cross-validation</a:t>
            </a:r>
          </a:p>
          <a:p>
            <a:pPr lvl="0" indent="0" marL="0">
              <a:buNone/>
            </a:pPr>
            <a:r>
              <a:rPr/>
              <a:t>A single train/test split can be lucky or unlucky. Cross-validation trains k times, each time holding out a different fold:</a:t>
            </a:r>
          </a:p>
          <a:p>
            <a:pPr lvl="0" indent="0">
              <a:buNone/>
            </a:pPr>
            <a:r>
              <a:rPr b="1">
                <a:solidFill>
                  <a:srgbClr val="00800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sklearn.model_selection </a:t>
            </a:r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cross_val_score</a:t>
            </a:r>
            <a:br/>
            <a:br/>
            <a:r>
              <a:rPr>
                <a:latin typeface="Courier"/>
              </a:rPr>
              <a:t>cv_scores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cross_val_score(rf, X_train, y_train, cv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latin typeface="Courier"/>
              </a:rPr>
              <a:t>, scoring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70A0"/>
                </a:solidFill>
                <a:latin typeface="Courier"/>
              </a:rPr>
              <a:t>'r2'</a:t>
            </a:r>
            <a:r>
              <a:rPr>
                <a:latin typeface="Courier"/>
              </a:rPr>
              <a:t>)</a:t>
            </a:r>
            <a:br/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BB6688"/>
                </a:solidFill>
                <a:latin typeface="Courier"/>
              </a:rPr>
              <a:t>f"CV R²: </a:t>
            </a:r>
            <a:r>
              <a:rPr>
                <a:solidFill>
                  <a:srgbClr val="4070A0"/>
                </a:solidFill>
                <a:latin typeface="Courier"/>
              </a:rPr>
              <a:t>{</a:t>
            </a:r>
            <a:r>
              <a:rPr>
                <a:latin typeface="Courier"/>
              </a:rPr>
              <a:t>cv_scores</a:t>
            </a:r>
            <a:r>
              <a:rPr>
                <a:solidFill>
                  <a:srgbClr val="4070A0"/>
                </a:solidFill>
                <a:latin typeface="Courier"/>
              </a:rPr>
              <a:t>.</a:t>
            </a:r>
            <a:r>
              <a:rPr>
                <a:latin typeface="Courier"/>
              </a:rPr>
              <a:t>mean()</a:t>
            </a:r>
            <a:r>
              <a:rPr>
                <a:solidFill>
                  <a:srgbClr val="4070A0"/>
                </a:solidFill>
                <a:latin typeface="Courier"/>
              </a:rPr>
              <a:t>:.3f}</a:t>
            </a:r>
            <a:r>
              <a:rPr>
                <a:solidFill>
                  <a:srgbClr val="BB6688"/>
                </a:solidFill>
                <a:latin typeface="Courier"/>
              </a:rPr>
              <a:t> (±</a:t>
            </a:r>
            <a:r>
              <a:rPr>
                <a:solidFill>
                  <a:srgbClr val="4070A0"/>
                </a:solidFill>
                <a:latin typeface="Courier"/>
              </a:rPr>
              <a:t>{</a:t>
            </a:r>
            <a:r>
              <a:rPr>
                <a:latin typeface="Courier"/>
              </a:rPr>
              <a:t>cv_scores</a:t>
            </a:r>
            <a:r>
              <a:rPr>
                <a:solidFill>
                  <a:srgbClr val="4070A0"/>
                </a:solidFill>
                <a:latin typeface="Courier"/>
              </a:rPr>
              <a:t>.</a:t>
            </a:r>
            <a:r>
              <a:rPr>
                <a:latin typeface="Courier"/>
              </a:rPr>
              <a:t>std()</a:t>
            </a:r>
            <a:r>
              <a:rPr>
                <a:solidFill>
                  <a:srgbClr val="4070A0"/>
                </a:solidFill>
                <a:latin typeface="Courier"/>
              </a:rPr>
              <a:t>:.3f}</a:t>
            </a:r>
            <a:r>
              <a:rPr>
                <a:solidFill>
                  <a:srgbClr val="BB6688"/>
                </a:solidFill>
                <a:latin typeface="Courier"/>
              </a:rPr>
              <a:t>)"</a:t>
            </a:r>
            <a:r>
              <a:rPr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/>
              <a:t>The mean and standard deviation tell you both how good and how stable the model is.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scikit-learn pattern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same API for every algorithm.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Five lines, any model</a:t>
            </a:r>
          </a:p>
          <a:p>
            <a:pPr lvl="0" indent="0">
              <a:buNone/>
            </a:pPr>
            <a:r>
              <a:rPr b="1">
                <a:solidFill>
                  <a:srgbClr val="008000"/>
                </a:solidFill>
                <a:latin typeface="Courier"/>
              </a:rPr>
              <a:t>from</a:t>
            </a:r>
            <a:r>
              <a:rPr>
                <a:latin typeface="Courier"/>
              </a:rPr>
              <a:t> sklearn.some_module </a:t>
            </a:r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SomeModel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1. Create</a:t>
            </a:r>
            <a:br/>
            <a:r>
              <a:rPr>
                <a:latin typeface="Courier"/>
              </a:rPr>
              <a:t>model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SomeModel(hyperparameters)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2. Train</a:t>
            </a:r>
            <a:br/>
            <a:r>
              <a:rPr>
                <a:latin typeface="Courier"/>
              </a:rPr>
              <a:t>model.fit(X_train, y_train)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3. Predict</a:t>
            </a:r>
            <a:br/>
            <a:r>
              <a:rPr>
                <a:latin typeface="Courier"/>
              </a:rPr>
              <a:t>y_pred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model.predict(X_test)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4. Evaluate</a:t>
            </a:r>
            <a:br/>
            <a:r>
              <a:rPr>
                <a:latin typeface="Courier"/>
              </a:rPr>
              <a:t>score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some_metric(y_test, y_pred)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5. (Optional) Cross-validate</a:t>
            </a:r>
            <a:br/>
            <a:r>
              <a:rPr>
                <a:latin typeface="Courier"/>
              </a:rPr>
              <a:t>cv_scores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cross_val_score(model, X, y, cv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/>
              <a:t>Swap </a:t>
            </a:r>
            <a:r>
              <a:rPr>
                <a:latin typeface="Courier"/>
              </a:rPr>
              <a:t>LinearRegression</a:t>
            </a:r>
            <a:r>
              <a:rPr/>
              <a:t> for </a:t>
            </a:r>
            <a:r>
              <a:rPr>
                <a:latin typeface="Courier"/>
              </a:rPr>
              <a:t>RandomForestRegressor</a:t>
            </a:r>
            <a:r>
              <a:rPr/>
              <a:t> for </a:t>
            </a:r>
            <a:r>
              <a:rPr>
                <a:latin typeface="Courier"/>
              </a:rPr>
              <a:t>XGBRegressor</a:t>
            </a:r>
            <a:r>
              <a:rPr/>
              <a:t> — the code stays the same.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Recap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you learned across three notebooks.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The full picture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 b="1"/>
                  <a:t>Notebook 1: Regression</a:t>
                </a:r>
              </a:p>
              <a:p>
                <a:pPr lvl="0"/>
                <a:r>
                  <a:rPr/>
                  <a:t>y = mx + c → </a:t>
                </a:r>
                <a14:m>
                  <m:oMath xmlns:m="http://schemas.openxmlformats.org/officeDocument/2006/math">
                    <m:acc>
                      <m:accPr>
                        <m:chr m:val="̂"/>
                      </m:accPr>
                      <m:e>
                        <m:r>
                          <m:t>y</m:t>
                        </m:r>
                      </m:e>
                    </m:acc>
                    <m:r>
                      <m:rPr>
                        <m:sty m:val="p"/>
                      </m:rPr>
                      <m:t>=</m:t>
                    </m:r>
                    <m:r>
                      <m:t>b</m:t>
                    </m:r>
                    <m:r>
                      <m:rPr>
                        <m:sty m:val="p"/>
                      </m:rPr>
                      <m:t>+</m:t>
                    </m:r>
                    <m:r>
                      <m:t>w</m:t>
                    </m:r>
                    <m:r>
                      <m:t>x</m:t>
                    </m:r>
                  </m:oMath>
                </a14:m>
              </a:p>
              <a:p>
                <a:pPr lvl="0"/>
                <a:r>
                  <a:rPr/>
                  <a:t>Linear regression</a:t>
                </a:r>
              </a:p>
              <a:p>
                <a:pPr lvl="0"/>
                <a:r>
                  <a:rPr/>
                  <a:t>Train/test split</a:t>
                </a:r>
              </a:p>
              <a:p>
                <a:pPr lvl="0"/>
                <a:r>
                  <a:rPr/>
                  <a:t>R² and MSE</a:t>
                </a:r>
              </a:p>
              <a:p>
                <a:pPr lvl="0"/>
                <a:r>
                  <a:rPr/>
                  <a:t>Multiple features</a:t>
                </a:r>
              </a:p>
              <a:p>
                <a:pPr lvl="0"/>
                <a:r>
                  <a:rPr/>
                  <a:t>One-hot encoding</a:t>
                </a:r>
              </a:p>
              <a:p>
                <a:pPr lvl="0"/>
                <a:r>
                  <a:rPr/>
                  <a:t>Feature scaling</a:t>
                </a:r>
              </a:p>
            </p:txBody>
          </p:sp>
        </mc:Choice>
      </mc:AlternateContent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Notebook 2: Classification</a:t>
            </a:r>
          </a:p>
          <a:p>
            <a:pPr lvl="0"/>
            <a:r>
              <a:rPr/>
              <a:t>Sigmoid function</a:t>
            </a:r>
          </a:p>
          <a:p>
            <a:pPr lvl="0"/>
            <a:r>
              <a:rPr/>
              <a:t>Logistic regression</a:t>
            </a:r>
          </a:p>
          <a:p>
            <a:pPr lvl="0"/>
            <a:r>
              <a:rPr/>
              <a:t>Binary vs. multi-class</a:t>
            </a:r>
          </a:p>
          <a:p>
            <a:pPr lvl="0"/>
            <a:r>
              <a:rPr/>
              <a:t>Accuracy, precision, recall</a:t>
            </a:r>
          </a:p>
          <a:p>
            <a:pPr lvl="0"/>
            <a:r>
              <a:rPr/>
              <a:t>The full ML workflow</a:t>
            </a:r>
          </a:p>
          <a:p>
            <a:pPr lvl="0"/>
            <a:r>
              <a:rPr/>
              <a:t>Iris and Titanic datasets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Key rules to carry forward</a:t>
            </a:r>
          </a:p>
          <a:p>
            <a:pPr lvl="0" indent="-342900" marL="342900">
              <a:buAutoNum type="arabicPeriod"/>
            </a:pPr>
            <a:r>
              <a:rPr b="1"/>
              <a:t>Always split first</a:t>
            </a:r>
            <a:r>
              <a:rPr/>
              <a:t> — never evaluate on training data</a:t>
            </a:r>
          </a:p>
          <a:p>
            <a:pPr lvl="0" indent="-342900" marL="342900">
              <a:buAutoNum type="arabicPeriod"/>
            </a:pPr>
            <a:r>
              <a:rPr b="1"/>
              <a:t>Scale features</a:t>
            </a:r>
            <a:r>
              <a:rPr/>
              <a:t> — </a:t>
            </a:r>
            <a:r>
              <a:rPr>
                <a:latin typeface="Courier"/>
              </a:rPr>
              <a:t>fit_transform</a:t>
            </a:r>
            <a:r>
              <a:rPr/>
              <a:t> on train, </a:t>
            </a:r>
            <a:r>
              <a:rPr>
                <a:latin typeface="Courier"/>
              </a:rPr>
              <a:t>transform</a:t>
            </a:r>
            <a:r>
              <a:rPr/>
              <a:t> on test</a:t>
            </a:r>
          </a:p>
          <a:p>
            <a:pPr lvl="0" indent="-342900" marL="342900">
              <a:buAutoNum type="arabicPeriod"/>
            </a:pPr>
            <a:r>
              <a:rPr b="1"/>
              <a:t>One-hot encode</a:t>
            </a:r>
            <a:r>
              <a:rPr/>
              <a:t> — ML models need numbers, not strings</a:t>
            </a:r>
          </a:p>
          <a:p>
            <a:pPr lvl="0" indent="-342900" marL="342900">
              <a:buAutoNum type="arabicPeriod"/>
            </a:pPr>
            <a:r>
              <a:rPr b="1"/>
              <a:t>Start simple</a:t>
            </a:r>
            <a:r>
              <a:rPr/>
              <a:t> — linear/logistic regression as baseline, then try ensembles</a:t>
            </a:r>
          </a:p>
          <a:p>
            <a:pPr lvl="0" indent="-342900" marL="342900">
              <a:buAutoNum type="arabicPeriod"/>
            </a:pPr>
            <a:r>
              <a:rPr b="1"/>
              <a:t>Cross-validate</a:t>
            </a:r>
            <a:r>
              <a:rPr/>
              <a:t> — a single split can mislead you</a:t>
            </a:r>
          </a:p>
          <a:p>
            <a:pPr lvl="0" indent="-342900" marL="342900">
              <a:buAutoNum type="arabicPeriod"/>
            </a:pPr>
            <a:r>
              <a:rPr b="1"/>
              <a:t>Check feature importance</a:t>
            </a:r>
            <a:r>
              <a:rPr/>
              <a:t> — understand what your model actually learned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What’s next</a:t>
            </a:r>
          </a:p>
          <a:p>
            <a:pPr lvl="0" indent="0" marL="0">
              <a:buNone/>
            </a:pPr>
            <a:r>
              <a:rPr b="1"/>
              <a:t>Module 6: Deep learning with PyTorch</a:t>
            </a:r>
          </a:p>
          <a:p>
            <a:pPr lvl="0"/>
            <a:r>
              <a:rPr/>
              <a:t>Neural networks — layers of connected neurons</a:t>
            </a:r>
          </a:p>
          <a:p>
            <a:pPr lvl="0"/>
            <a:r>
              <a:rPr/>
              <a:t>CNNs for image classification</a:t>
            </a:r>
          </a:p>
          <a:p>
            <a:pPr lvl="0"/>
            <a:r>
              <a:rPr/>
              <a:t>Training loops and backpropagation</a:t>
            </a:r>
          </a:p>
          <a:p>
            <a:pPr lvl="0"/>
            <a:r>
              <a:rPr/>
              <a:t>From scikit-learn’s </a:t>
            </a:r>
            <a:r>
              <a:rPr>
                <a:latin typeface="Courier"/>
              </a:rPr>
              <a:t>.fit()</a:t>
            </a:r>
            <a:r>
              <a:rPr/>
              <a:t> to manual training control</a:t>
            </a:r>
          </a:p>
          <a:p>
            <a:pPr lvl="0" indent="0" marL="0">
              <a:buNone/>
            </a:pPr>
            <a:r>
              <a:rPr/>
              <a:t>Scikit-learn gave you the patterns. PyTorch gives you the power.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0F172A"/>
      </a:dk1>
      <a:lt1>
        <a:srgbClr val="F8FAFC"/>
      </a:lt1>
      <a:dk2>
        <a:srgbClr val="004367"/>
      </a:dk2>
      <a:lt2>
        <a:srgbClr val="FFFFFF"/>
      </a:lt2>
      <a:accent1>
        <a:srgbClr val="004367"/>
      </a:accent1>
      <a:accent2>
        <a:srgbClr val="56A09A"/>
      </a:accent2>
      <a:accent3>
        <a:srgbClr val="31BAE9"/>
      </a:accent3>
      <a:accent4>
        <a:srgbClr val="8064A2"/>
      </a:accent4>
      <a:accent5>
        <a:srgbClr val="4BACC6"/>
      </a:accent5>
      <a:accent6>
        <a:srgbClr val="F79646"/>
      </a:accent6>
      <a:hlink>
        <a:srgbClr val="56A09A"/>
      </a:hlink>
      <a:folHlink>
        <a:srgbClr val="800080"/>
      </a:folHlink>
    </a:clrScheme>
    <a:fontScheme name="Office">
      <a:maj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Foundations</dc:title>
  <dc:creator>Speedykom Group GmbH</dc:creator>
  <cp:keywords/>
  <dcterms:created xsi:type="dcterms:W3CDTF">2026-04-10T17:10:05Z</dcterms:created>
  <dcterms:modified xsi:type="dcterms:W3CDTF">2026-04-10T17:10:05Z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ngines">
    <vt:lpwstr/>
  </property>
  <property fmtid="{D5CDD505-2E9C-101B-9397-08002B2CF9AE}" pid="6" name="execute">
    <vt:lpwstr/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jupyter">
    <vt:lpwstr>python3</vt:lpwstr>
  </property>
  <property fmtid="{D5CDD505-2E9C-101B-9397-08002B2CF9AE}" pid="11" name="labels">
    <vt:lpwstr/>
  </property>
  <property fmtid="{D5CDD505-2E9C-101B-9397-08002B2CF9AE}" pid="12" name="subtitle">
    <vt:lpwstr>From linear regression to ensemble methods</vt:lpwstr>
  </property>
  <property fmtid="{D5CDD505-2E9C-101B-9397-08002B2CF9AE}" pid="13" name="toc-title">
    <vt:lpwstr>Table of contents</vt:lpwstr>
  </property>
</Properties>
</file>