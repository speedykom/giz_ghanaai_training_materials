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14650"/>
            <a:ext cx="85344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305176"/>
            <a:ext cx="103632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180035"/>
            <a:ext cx="103632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1335"/>
            <a:ext cx="5386917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31156"/>
            <a:ext cx="5386917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51335"/>
            <a:ext cx="5389033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31156"/>
            <a:ext cx="5389033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50000"/>
            <a:ext cx="4011084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550000"/>
            <a:ext cx="6815666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076326"/>
            <a:ext cx="4011084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3600450"/>
            <a:ext cx="73152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550000"/>
            <a:ext cx="73152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4025503"/>
            <a:ext cx="73152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50000"/>
            <a:ext cx="27432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50000"/>
            <a:ext cx="80264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Logo" Target="../media/image1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365760" y="182880"/>
            <a:ext cx="10972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828800" y="2914650"/>
            <a:ext cx="85344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models to autonomous agents</a:t>
            </a:r>
            <a:br/>
            <a:br/>
            <a:r>
              <a:rPr/>
              <a:t>Speedykom Group GmbH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Traditional programs follow a fixed path. Agents decide what to do next.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code vs. agents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600"/>
                <a:gridCol w="3403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Traditional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 agent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Fixed logic paths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Dynamic decision-making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Needs exact instructions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Figures out “how” from “what”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Fails on edge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Adapts and retries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external awareness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Can browse, query, research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Stateless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Maintains context and memory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four components of an agent</a:t>
            </a:r>
          </a:p>
          <a:p>
            <a:pPr lvl="0" indent="-342900" marL="342900">
              <a:buAutoNum type="arabicPeriod"/>
            </a:pPr>
            <a:r>
              <a:rPr b="1"/>
              <a:t>Brain (LLM)</a:t>
            </a:r>
            <a:r>
              <a:rPr/>
              <a:t> — reasoning, language understanding, code generation</a:t>
            </a:r>
          </a:p>
          <a:p>
            <a:pPr lvl="0" indent="-342900" marL="342900">
              <a:buAutoNum type="arabicPeriod"/>
            </a:pPr>
            <a:r>
              <a:rPr b="1"/>
              <a:t>Tools</a:t>
            </a:r>
            <a:r>
              <a:rPr/>
              <a:t> — file operations, web access, code execution, APIs</a:t>
            </a:r>
          </a:p>
          <a:p>
            <a:pPr lvl="0" indent="-342900" marL="342900">
              <a:buAutoNum type="arabicPeriod"/>
            </a:pPr>
            <a:r>
              <a:rPr b="1"/>
              <a:t>Planning</a:t>
            </a:r>
            <a:r>
              <a:rPr/>
              <a:t> — sequential, conditional, iterative, hierarchical</a:t>
            </a:r>
          </a:p>
          <a:p>
            <a:pPr lvl="0" indent="-342900" marL="342900">
              <a:buAutoNum type="arabicPeriod"/>
            </a:pPr>
            <a:r>
              <a:rPr b="1"/>
              <a:t>Memory</a:t>
            </a:r>
            <a:r>
              <a:rPr/>
              <a:t> — short-term (this conversation), long-term (past sessions), working (current task)</a:t>
            </a:r>
          </a:p>
          <a:p>
            <a:pPr lvl="0" indent="0" marL="0">
              <a:buNone/>
            </a:pPr>
            <a:r>
              <a:rPr/>
              <a:t>The LLM is the brain in a jar. The agent framework is the mech suit — it gives the brain hands, eyes, and memory.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vs. agentic approach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Traditional: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summarize(url):</a:t>
            </a:r>
            <a:br/>
            <a:r>
              <a:rPr>
                <a:latin typeface="Courier"/>
              </a:rPr>
              <a:t>    html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fetch_url(url)</a:t>
            </a:r>
            <a:br/>
            <a:r>
              <a:rPr>
                <a:latin typeface="Courier"/>
              </a:rPr>
              <a:t>    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extract_text(html)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run_summarizer(text)</a:t>
            </a:r>
          </a:p>
          <a:p>
            <a:pPr lvl="0" indent="0" marL="0">
              <a:buNone/>
            </a:pPr>
            <a:r>
              <a:rPr/>
              <a:t>Fixed steps. Breaks if the page is a PDF, behind a login, or in another language.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Agentic: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ArticleAgent(Agent):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run(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topic):</a:t>
            </a:r>
            <a:br/>
            <a:r>
              <a:rPr>
                <a:latin typeface="Courier"/>
              </a:rPr>
              <a:t>        results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.search_web(topic)</a:t>
            </a:r>
            <a:br/>
            <a:r>
              <a:rPr>
                <a:latin typeface="Courier"/>
              </a:rPr>
              <a:t>        urls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.filter_relevant(results)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url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urls:</a:t>
            </a:r>
            <a:br/>
            <a:r>
              <a:rPr>
                <a:latin typeface="Courier"/>
              </a:rPr>
              <a:t>            content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.fetch(url)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.is_complex(content):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.deep_analysis(content)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.quick_summary(content)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.synthesize_report()</a:t>
            </a:r>
          </a:p>
          <a:p>
            <a:pPr lvl="0" indent="0" marL="0">
              <a:buNone/>
            </a:pPr>
            <a:r>
              <a:rPr/>
              <a:t>The agent </a:t>
            </a:r>
            <a:r>
              <a:rPr b="1"/>
              <a:t>decides</a:t>
            </a:r>
            <a:r>
              <a:rPr/>
              <a:t> what steps are needed.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Coordinating multiple agents into workflows.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orchestrate?</a:t>
            </a:r>
          </a:p>
          <a:p>
            <a:pPr lvl="0" indent="0" marL="0">
              <a:buNone/>
            </a:pPr>
            <a:r>
              <a:rPr/>
              <a:t>A single agent is powerful. Real-world problems need several specialized agents working together — like a delivery operation where one person receives orders, another packages, another ships.</a:t>
            </a:r>
          </a:p>
          <a:p>
            <a:pPr lvl="0" indent="0" marL="0">
              <a:buNone/>
            </a:pPr>
            <a:r>
              <a:rPr b="1"/>
              <a:t>Benefits:</a:t>
            </a:r>
          </a:p>
          <a:p>
            <a:pPr lvl="0"/>
            <a:r>
              <a:rPr b="1"/>
              <a:t>Separation of concerns</a:t>
            </a:r>
            <a:r>
              <a:rPr/>
              <a:t> — debug one step, not the whole system</a:t>
            </a:r>
          </a:p>
          <a:p>
            <a:pPr lvl="0"/>
            <a:r>
              <a:rPr b="1"/>
              <a:t>Reliability</a:t>
            </a:r>
            <a:r>
              <a:rPr/>
              <a:t> — retry failed steps independently</a:t>
            </a:r>
          </a:p>
          <a:p>
            <a:pPr lvl="0"/>
            <a:r>
              <a:rPr b="1"/>
              <a:t>Flexibility</a:t>
            </a:r>
            <a:r>
              <a:rPr/>
              <a:t> — branch, loop, parallelize</a:t>
            </a:r>
          </a:p>
          <a:p>
            <a:pPr lvl="0"/>
            <a:r>
              <a:rPr b="1"/>
              <a:t>Reusability</a:t>
            </a:r>
            <a:r>
              <a:rPr/>
              <a:t> — a “send email” task works for orders, resets, and alerts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Orchestration patterns</a:t>
            </a:r>
          </a:p>
          <a:p>
            <a:pPr lvl="0" indent="0" marL="0">
              <a:buNone/>
            </a:pPr>
            <a:r>
              <a:rPr b="1"/>
              <a:t>Sequential</a:t>
            </a:r>
            <a:r>
              <a:rPr/>
              <a:t> — A, then B, then C:</a:t>
            </a:r>
          </a:p>
          <a:p>
            <a:pPr lvl="0" indent="0">
              <a:buNone/>
            </a:pPr>
            <a:r>
              <a:rPr>
                <a:latin typeface="Courier"/>
              </a:rPr>
              <a:t>Receive Order → Validate Payment → Prepare Package → Ship</a:t>
            </a:r>
          </a:p>
          <a:p>
            <a:pPr lvl="0" indent="0" marL="0">
              <a:buNone/>
            </a:pPr>
            <a:r>
              <a:rPr b="1"/>
              <a:t>Conditional</a:t>
            </a:r>
            <a:r>
              <a:rPr/>
              <a:t> — branch based on conditions:</a:t>
            </a:r>
          </a:p>
          <a:p>
            <a:pPr lvl="0" indent="0">
              <a:buNone/>
            </a:pPr>
            <a:r>
              <a:rPr>
                <a:latin typeface="Courier"/>
              </a:rPr>
              <a:t>Check Type → Standard Shipping / Express Shipping</a:t>
            </a:r>
          </a:p>
          <a:p>
            <a:pPr lvl="0" indent="0" marL="0">
              <a:buNone/>
            </a:pPr>
            <a:r>
              <a:rPr b="1"/>
              <a:t>Map-Reduce</a:t>
            </a:r>
            <a:r>
              <a:rPr/>
              <a:t> — process in parallel, combine:</a:t>
            </a:r>
          </a:p>
          <a:p>
            <a:pPr lvl="0" indent="0">
              <a:buNone/>
            </a:pPr>
            <a:r>
              <a:rPr>
                <a:latin typeface="Courier"/>
              </a:rPr>
              <a:t>Input List → [Process A] [Process B] [Process C] → Combine</a:t>
            </a:r>
          </a:p>
          <a:p>
            <a:pPr lvl="0" indent="0" marL="0">
              <a:buNone/>
            </a:pPr>
            <a:r>
              <a:rPr b="1"/>
              <a:t>Loop</a:t>
            </a:r>
            <a:r>
              <a:rPr/>
              <a:t> — repeat until a condition is met:</a:t>
            </a:r>
          </a:p>
          <a:p>
            <a:pPr lvl="0" indent="0">
              <a:buNone/>
            </a:pPr>
            <a:r>
              <a:rPr>
                <a:latin typeface="Courier"/>
              </a:rPr>
              <a:t>Process Item → Done? → No → Process Item → Done? → Yes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Pre-built agents vs. building your own.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Pre-built agents</a:t>
            </a:r>
          </a:p>
          <a:p>
            <a:pPr lvl="0" indent="0" marL="0">
              <a:buNone/>
            </a:pPr>
            <a:r>
              <a:rPr b="1"/>
              <a:t>Personal AI assistants</a:t>
            </a:r>
            <a:r>
              <a:rPr/>
              <a:t> (live in messaging apps):</a:t>
            </a:r>
          </a:p>
          <a:p>
            <a:pPr lvl="0"/>
            <a:r>
              <a:rPr b="1"/>
              <a:t>OpenClaw</a:t>
            </a:r>
            <a:r>
              <a:rPr/>
              <a:t> — massive Node.js agent, huge plugin ecosystem, needs strict sandboxing</a:t>
            </a:r>
          </a:p>
          <a:p>
            <a:pPr lvl="0"/>
            <a:r>
              <a:rPr b="1"/>
              <a:t>Nanobot</a:t>
            </a:r>
            <a:r>
              <a:rPr/>
              <a:t> — lightweight Python alternative, minimal RAM, deploys on cheap servers</a:t>
            </a:r>
          </a:p>
          <a:p>
            <a:pPr lvl="0" indent="0" marL="0">
              <a:buNone/>
            </a:pPr>
            <a:r>
              <a:rPr b="1"/>
              <a:t>Coding agents</a:t>
            </a:r>
            <a:r>
              <a:rPr/>
              <a:t> (live in your terminal/IDE):</a:t>
            </a:r>
          </a:p>
          <a:p>
            <a:pPr lvl="0"/>
            <a:r>
              <a:rPr b="1"/>
              <a:t>OpenCode</a:t>
            </a:r>
            <a:r>
              <a:rPr/>
              <a:t> — Go-based, modern TUI, desktop app, LSP integration, 75+ LLM providers</a:t>
            </a:r>
          </a:p>
          <a:p>
            <a:pPr lvl="0"/>
            <a:r>
              <a:rPr b="1"/>
              <a:t>Aider</a:t>
            </a:r>
            <a:r>
              <a:rPr/>
              <a:t> — Python-based, terminal-only, Git-native workflow, every change is a clean commit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CodeTrain — build your own agent</a:t>
            </a:r>
          </a:p>
          <a:p>
            <a:pPr lvl="0" indent="0" marL="0">
              <a:buNone/>
            </a:pPr>
            <a:r>
              <a:rPr/>
              <a:t>A minimalist orchestration engine inspired by PocketFlow. Instead of buying a “finished car,” you build custom agents from an “engine block.”</a:t>
            </a:r>
          </a:p>
          <a:p>
            <a:pPr lvl="0" indent="0" marL="0">
              <a:buNone/>
            </a:pPr>
            <a:r>
              <a:rPr b="1"/>
              <a:t>Why CodeTrain?</a:t>
            </a:r>
          </a:p>
          <a:p>
            <a:pPr lvl="0"/>
            <a:r>
              <a:rPr/>
              <a:t>Total ownership — you understand every line of routing logic</a:t>
            </a:r>
          </a:p>
          <a:p>
            <a:pPr lvl="0"/>
            <a:r>
              <a:rPr/>
              <a:t>Self-looping agents — chatbots that loop back to themselves</a:t>
            </a:r>
          </a:p>
          <a:p>
            <a:pPr lvl="0"/>
            <a:r>
              <a:rPr/>
              <a:t>SKILL.md integration — feed the architecture to OpenCode and it builds for you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CodeTrain architecture</a:t>
            </a:r>
          </a:p>
          <a:p>
            <a:pPr lvl="0" indent="0" marL="0">
              <a:buNone/>
            </a:pPr>
            <a:r>
              <a:rPr/>
              <a:t>Three concepts: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/>
                <a:gridCol w="2273300"/>
                <a:gridCol w="227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Analogy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Manifest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Shared dictionary flowing through the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cargo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Jobs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Units of work with 3 stages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Workstations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Hustle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route connecting jobs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delivery route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Job has three stages: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receive_order()</a:t>
            </a:r>
            <a:r>
              <a:rPr/>
              <a:t> — load input from manifest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prepare_order()</a:t>
            </a:r>
            <a:r>
              <a:rPr/>
              <a:t> — do the work (call LLM, process data)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ship_order()</a:t>
            </a:r>
            <a:r>
              <a:rPr/>
              <a:t> — store results back in manifest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Your first Job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codetrain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ct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GreetingJob(ct.Job):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receive_order(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manifest):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manifest.get(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"World"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prepare_order(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name):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f"Hello,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!"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ship_order(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manifest, name, greeting):</a:t>
            </a:r>
            <a:br/>
            <a:r>
              <a:rPr>
                <a:latin typeface="Courier"/>
              </a:rPr>
              <a:t>        manifest[</a:t>
            </a:r>
            <a:r>
              <a:rPr>
                <a:solidFill>
                  <a:srgbClr val="4070A0"/>
                </a:solidFill>
                <a:latin typeface="Courier"/>
              </a:rPr>
              <a:t>"greeting"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greeting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"done"</a:t>
            </a:r>
            <a:br/>
            <a:br/>
            <a:r>
              <a:rPr>
                <a:latin typeface="Courier"/>
              </a:rPr>
              <a:t>job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GreetingJob()</a:t>
            </a:r>
            <a:br/>
            <a:r>
              <a:rPr>
                <a:latin typeface="Courier"/>
              </a:rPr>
              <a:t>manifest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"Ghana"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job.run(manifest)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(manifest[</a:t>
            </a:r>
            <a:r>
              <a:rPr>
                <a:solidFill>
                  <a:srgbClr val="4070A0"/>
                </a:solidFill>
                <a:latin typeface="Courier"/>
              </a:rPr>
              <a:t>"greeting"</a:t>
            </a:r>
            <a:r>
              <a:rPr>
                <a:latin typeface="Courier"/>
              </a:rPr>
              <a:t>])  </a:t>
            </a:r>
            <a:r>
              <a:rPr i="1">
                <a:solidFill>
                  <a:srgbClr val="60A0B0"/>
                </a:solidFill>
                <a:latin typeface="Courier"/>
              </a:rPr>
              <a:t># Hello, Ghana!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Chaining Jobs</a:t>
            </a:r>
          </a:p>
          <a:p>
            <a:pPr lvl="0" indent="0" marL="0">
              <a:buNone/>
            </a:pPr>
            <a:r>
              <a:rPr/>
              <a:t>Connect Jobs with the </a:t>
            </a:r>
            <a:r>
              <a:rPr>
                <a:latin typeface="Courier"/>
              </a:rPr>
              <a:t>&gt;&gt;</a:t>
            </a:r>
            <a:r>
              <a:rPr/>
              <a:t> operator for sequences and </a:t>
            </a:r>
            <a:r>
              <a:rPr>
                <a:latin typeface="Courier"/>
              </a:rPr>
              <a:t>- "action" &gt;&gt;</a:t>
            </a:r>
            <a:r>
              <a:rPr/>
              <a:t> for conditional branches.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Sequential: extract → format → respond</a:t>
            </a:r>
            <a:br/>
            <a:r>
              <a:rPr>
                <a:latin typeface="Courier"/>
              </a:rPr>
              <a:t>workflow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ExtractNameJob()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FormatJob()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RespondJob()</a:t>
            </a:r>
            <a:br/>
            <a:r>
              <a:rPr>
                <a:latin typeface="Courier"/>
              </a:rPr>
              <a:t>workflow.run(manifest)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Conditional branching</a:t>
            </a:r>
            <a:br/>
            <a:r>
              <a:rPr>
                <a:latin typeface="Courier"/>
              </a:rPr>
              <a:t>workflow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ClassifyJob()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"simple"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QuickReplyJob()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"complex"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DeepAnalysisJob()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CLI-first AI coding agent.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OpenCode?</a:t>
            </a:r>
          </a:p>
          <a:p>
            <a:pPr lvl="0"/>
            <a:r>
              <a:rPr b="1"/>
              <a:t>Privacy-first</a:t>
            </a:r>
            <a:r>
              <a:rPr/>
              <a:t> — code stays on your machine</a:t>
            </a:r>
          </a:p>
          <a:p>
            <a:pPr lvl="0"/>
            <a:r>
              <a:rPr b="1"/>
              <a:t>Multi-session</a:t>
            </a:r>
            <a:r>
              <a:rPr/>
              <a:t> — run parallel agents on the same project</a:t>
            </a:r>
          </a:p>
          <a:p>
            <a:pPr lvl="0"/>
            <a:r>
              <a:rPr b="1"/>
              <a:t>75+ model providers</a:t>
            </a:r>
            <a:r>
              <a:rPr/>
              <a:t> — free models, paid models, local models</a:t>
            </a:r>
          </a:p>
          <a:p>
            <a:pPr lvl="0"/>
            <a:r>
              <a:rPr b="1"/>
              <a:t>Terminal-native</a:t>
            </a:r>
            <a:r>
              <a:rPr/>
              <a:t> — works entirely in the CLI</a:t>
            </a:r>
          </a:p>
          <a:p>
            <a:pPr lvl="0"/>
            <a:r>
              <a:rPr b="1"/>
              <a:t>Extensible</a:t>
            </a:r>
            <a:r>
              <a:rPr/>
              <a:t> — custom skills teach the AI domain knowledge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Installation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macOS</a:t>
            </a:r>
          </a:p>
          <a:p>
            <a:pPr lvl="0" indent="0">
              <a:buNone/>
            </a:pPr>
            <a:r>
              <a:rPr>
                <a:latin typeface="Courier"/>
              </a:rPr>
              <a:t>brew tap anomaly/opencode</a:t>
            </a:r>
            <a:br/>
            <a:r>
              <a:rPr>
                <a:latin typeface="Courier"/>
              </a:rPr>
              <a:t>brew install opencode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Linux</a:t>
            </a:r>
          </a:p>
          <a:p>
            <a:pPr lvl="0" indent="0">
              <a:buNone/>
            </a:pPr>
            <a:r>
              <a:rPr>
                <a:latin typeface="Courier"/>
              </a:rPr>
              <a:t>curl </a:t>
            </a:r>
            <a:r>
              <a:rPr>
                <a:solidFill>
                  <a:srgbClr val="7D9029"/>
                </a:solidFill>
                <a:latin typeface="Courier"/>
              </a:rPr>
              <a:t>-fsSL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https://opencode.ai/install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bash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configure:</a:t>
            </a:r>
          </a:p>
          <a:p>
            <a:pPr lvl="0" indent="0">
              <a:buNone/>
            </a:pPr>
            <a:r>
              <a:rPr>
                <a:latin typeface="Courier"/>
              </a:rPr>
              <a:t>opencode configure</a:t>
            </a:r>
          </a:p>
          <a:p>
            <a:pPr lvl="0" indent="0" marL="0">
              <a:buNone/>
            </a:pPr>
            <a:r>
              <a:rPr/>
              <a:t>Select a model provider, paste your API key, pick a model.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OpenRouter — one key, 300+ models</a:t>
            </a:r>
          </a:p>
          <a:p>
            <a:pPr lvl="0" indent="0" marL="0">
              <a:buNone/>
            </a:pPr>
            <a:r>
              <a:rPr/>
              <a:t>Instead of signing up for OpenAI, Anthropic, and Google separately, use </a:t>
            </a:r>
            <a:r>
              <a:rPr b="1"/>
              <a:t>OpenRouter</a:t>
            </a:r>
            <a:r>
              <a:rPr/>
              <a:t> as a single gateway.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/>
                <a:gridCol w="2260600"/>
                <a:gridCol w="2260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API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 tier + pay-per-use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 paid key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300+ from all providers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provider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API key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 accounts each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Free models for students:</a:t>
            </a:r>
          </a:p>
          <a:p>
            <a:pPr lvl="0"/>
            <a:r>
              <a:rPr>
                <a:latin typeface="Courier"/>
              </a:rPr>
              <a:t>openai/gpt-4o-mini</a:t>
            </a:r>
            <a:r>
              <a:rPr/>
              <a:t> — fast and capable</a:t>
            </a:r>
          </a:p>
          <a:p>
            <a:pPr lvl="0"/>
            <a:r>
              <a:rPr>
                <a:latin typeface="Courier"/>
              </a:rPr>
              <a:t>google/gemini-flash-1.5</a:t>
            </a:r>
            <a:r>
              <a:rPr/>
              <a:t> — good for long conversations</a:t>
            </a:r>
          </a:p>
          <a:p>
            <a:pPr lvl="0"/>
            <a:r>
              <a:rPr>
                <a:latin typeface="Courier"/>
              </a:rPr>
              <a:t>meta-llama/llama-3.1-8b-instruct</a:t>
            </a:r>
            <a:r>
              <a:rPr/>
              <a:t> — open source</a:t>
            </a:r>
          </a:p>
          <a:p>
            <a:pPr lvl="0" indent="0" marL="0">
              <a:buNone/>
            </a:pPr>
            <a:r>
              <a:rPr/>
              <a:t>Start free. Upgrade when you hit limits.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OpenCode Zen — premium Chinese models</a:t>
            </a:r>
          </a:p>
          <a:p>
            <a:pPr lvl="0" indent="0" marL="0">
              <a:buNone/>
            </a:pPr>
            <a:r>
              <a:rPr/>
              <a:t>Access to high-performance Chinese models at reduced cost:</a:t>
            </a:r>
          </a:p>
          <a:p>
            <a:pPr lvl="0"/>
            <a:r>
              <a:rPr b="1"/>
              <a:t>MinMax M2.5</a:t>
            </a:r>
            <a:r>
              <a:rPr/>
              <a:t> — 80.2% on SWE-Bench, ~$1/hour, strong Claude alternative</a:t>
            </a:r>
          </a:p>
          <a:p>
            <a:pPr lvl="0"/>
            <a:r>
              <a:rPr b="1"/>
              <a:t>Kimi K2.5</a:t>
            </a:r>
            <a:r>
              <a:rPr/>
              <a:t> — 1T parameter MoE model, 32B active params, open-weight</a:t>
            </a:r>
          </a:p>
          <a:p>
            <a:pPr lvl="0" indent="0">
              <a:buNone/>
            </a:pPr>
            <a:r>
              <a:rPr>
                <a:latin typeface="Courier"/>
              </a:rPr>
              <a:t>opencode configure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Select "OpenCode Zen" → paste Zen API key → choose model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Custom skills</a:t>
            </a:r>
          </a:p>
          <a:p>
            <a:pPr lvl="0" indent="0" marL="0">
              <a:buNone/>
            </a:pPr>
            <a:r>
              <a:rPr/>
              <a:t>Teach OpenCode domain-specific knowledge with SKILL.md files: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name:</a:t>
            </a:r>
            <a:r>
              <a:rPr i="1">
                <a:solidFill>
                  <a:srgbClr val="60A0B0"/>
                </a:solidFill>
                <a:latin typeface="Courier"/>
              </a:rPr>
              <a:t> my-skill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description:</a:t>
            </a:r>
            <a:r>
              <a:rPr i="1">
                <a:solidFill>
                  <a:srgbClr val="60A0B0"/>
                </a:solidFill>
                <a:latin typeface="Courier"/>
              </a:rPr>
              <a:t> What this skill does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latin typeface="Courier"/>
              </a:rPr>
              <a:t>Instructions for the AI when this skill is invoked...</a:t>
            </a:r>
          </a:p>
          <a:p>
            <a:pPr lvl="0" indent="0" marL="0">
              <a:buNone/>
            </a:pPr>
            <a:r>
              <a:rPr/>
              <a:t>Place in </a:t>
            </a:r>
            <a:r>
              <a:rPr>
                <a:latin typeface="Courier"/>
              </a:rPr>
              <a:t>.opencode/skills/my-skill/SKILL.md</a:t>
            </a:r>
            <a:r>
              <a:rPr/>
              <a:t> for project-level, or </a:t>
            </a:r>
            <a:r>
              <a:rPr>
                <a:latin typeface="Courier"/>
              </a:rPr>
              <a:t>~/.opencode/skills/</a:t>
            </a:r>
            <a:r>
              <a:rPr/>
              <a:t> for global.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learned in this module.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picture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Agentic AI concepts</a:t>
            </a:r>
          </a:p>
          <a:p>
            <a:pPr lvl="0"/>
            <a:r>
              <a:rPr/>
              <a:t>Agents vs. traditional code</a:t>
            </a:r>
          </a:p>
          <a:p>
            <a:pPr lvl="0"/>
            <a:r>
              <a:rPr/>
              <a:t>Brain, tools, planning, memory</a:t>
            </a:r>
          </a:p>
          <a:p>
            <a:pPr lvl="0"/>
            <a:r>
              <a:rPr/>
              <a:t>Orchestration patterns</a:t>
            </a:r>
          </a:p>
          <a:p>
            <a:pPr lvl="0"/>
            <a:r>
              <a:rPr/>
              <a:t>Sequential, conditional, loop, map-reduce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CodeTrain</a:t>
            </a:r>
          </a:p>
          <a:p>
            <a:pPr lvl="0"/>
            <a:r>
              <a:rPr/>
              <a:t>Manifest (shared state)</a:t>
            </a:r>
          </a:p>
          <a:p>
            <a:pPr lvl="0"/>
            <a:r>
              <a:rPr/>
              <a:t>Jobs (3-stage workers)</a:t>
            </a:r>
          </a:p>
          <a:p>
            <a:pPr lvl="0"/>
            <a:r>
              <a:rPr/>
              <a:t>Hustle (the route)</a:t>
            </a:r>
          </a:p>
          <a:p>
            <a:pPr lvl="0"/>
            <a:r>
              <a:rPr/>
              <a:t>Chaining with </a:t>
            </a:r>
            <a:r>
              <a:rPr>
                <a:latin typeface="Courier"/>
              </a:rPr>
              <a:t>&gt;&gt;</a:t>
            </a:r>
          </a:p>
          <a:p>
            <a:pPr lvl="0"/>
            <a:r>
              <a:rPr/>
              <a:t>Conditional branching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rules to carry forward</a:t>
            </a:r>
          </a:p>
          <a:p>
            <a:pPr lvl="0" indent="-342900" marL="342900">
              <a:buAutoNum type="arabicPeriod"/>
            </a:pPr>
            <a:r>
              <a:rPr b="1"/>
              <a:t>Agents decide, scripts follow</a:t>
            </a:r>
            <a:r>
              <a:rPr/>
              <a:t> — the shift is from “how” to “what”</a:t>
            </a:r>
          </a:p>
          <a:p>
            <a:pPr lvl="0" indent="-342900" marL="342900">
              <a:buAutoNum type="arabicPeriod"/>
            </a:pPr>
            <a:r>
              <a:rPr b="1"/>
              <a:t>Orchestrate, don’t monolith</a:t>
            </a:r>
            <a:r>
              <a:rPr/>
              <a:t> — break workflows into discrete, retryable Jobs</a:t>
            </a:r>
          </a:p>
          <a:p>
            <a:pPr lvl="0" indent="-342900" marL="342900">
              <a:buAutoNum type="arabicPeriod"/>
            </a:pPr>
            <a:r>
              <a:rPr b="1"/>
              <a:t>Manifest is your state</a:t>
            </a:r>
            <a:r>
              <a:rPr/>
              <a:t> — shared dictionary flowing through the pipeline</a:t>
            </a:r>
          </a:p>
          <a:p>
            <a:pPr lvl="0" indent="-342900" marL="342900">
              <a:buAutoNum type="arabicPeriod"/>
            </a:pPr>
            <a:r>
              <a:rPr b="1"/>
              <a:t>Start with free models</a:t>
            </a:r>
            <a:r>
              <a:rPr/>
              <a:t> — OpenRouter free tier is enough for learning</a:t>
            </a:r>
          </a:p>
          <a:p>
            <a:pPr lvl="0" indent="-342900" marL="342900">
              <a:buAutoNum type="arabicPeriod"/>
            </a:pPr>
            <a:r>
              <a:rPr b="1"/>
              <a:t>Skills extend agents</a:t>
            </a:r>
            <a:r>
              <a:rPr/>
              <a:t> — teach domain knowledge via SKILL.md files</a:t>
            </a:r>
          </a:p>
          <a:p>
            <a:pPr lvl="0" indent="-342900" marL="342900">
              <a:buAutoNum type="arabicPeriod"/>
            </a:pPr>
            <a:r>
              <a:rPr b="1"/>
              <a:t>Own your code</a:t>
            </a:r>
            <a:r>
              <a:rPr/>
              <a:t> — CodeTrain lets you understand every line of routing logic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you’ve built across this course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Python fundamentals</a:t>
            </a:r>
          </a:p>
          <a:p>
            <a:pPr lvl="0"/>
            <a:r>
              <a:rPr/>
              <a:t>Data analysis with Pandas</a:t>
            </a:r>
          </a:p>
          <a:p>
            <a:pPr lvl="0"/>
            <a:r>
              <a:rPr/>
              <a:t>Machine learning with scikit-learn</a:t>
            </a:r>
          </a:p>
          <a:p>
            <a:pPr lvl="0"/>
            <a:r>
              <a:rPr/>
              <a:t>Deep learning with PyTorch</a:t>
            </a:r>
          </a:p>
          <a:p>
            <a:pPr lvl="0"/>
            <a:r>
              <a:rPr/>
              <a:t>Agentic AI with CodeTrain and OpenCode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writing </a:t>
            </a:r>
            <a:r>
              <a:rPr>
                <a:latin typeface="Courier"/>
              </a:rPr>
              <a:t>print("Hello")</a:t>
            </a:r>
            <a:r>
              <a:rPr/>
              <a:t> to building autonomous AI agents that reason, act, and learn.</a:t>
            </a:r>
          </a:p>
          <a:p>
            <a:pPr lvl="0" indent="0" marL="0">
              <a:buNone/>
            </a:pPr>
            <a:r>
              <a:rPr/>
              <a:t>You’re an AI engineer now. Go build something.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004367"/>
      </a:dk2>
      <a:lt2>
        <a:srgbClr val="FFFFFF"/>
      </a:lt2>
      <a:accent1>
        <a:srgbClr val="004367"/>
      </a:accent1>
      <a:accent2>
        <a:srgbClr val="56A09A"/>
      </a:accent2>
      <a:accent3>
        <a:srgbClr val="31BAE9"/>
      </a:accent3>
      <a:accent4>
        <a:srgbClr val="8064A2"/>
      </a:accent4>
      <a:accent5>
        <a:srgbClr val="4BACC6"/>
      </a:accent5>
      <a:accent6>
        <a:srgbClr val="F79646"/>
      </a:accent6>
      <a:hlink>
        <a:srgbClr val="56A09A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</dc:title>
  <dc:creator>Speedykom Group GmbH</dc:creator>
  <cp:keywords/>
  <dcterms:created xsi:type="dcterms:W3CDTF">2026-04-10T17:10:32Z</dcterms:created>
  <dcterms:modified xsi:type="dcterms:W3CDTF">2026-04-10T17:10:32Z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>python3</vt:lpwstr>
  </property>
  <property fmtid="{D5CDD505-2E9C-101B-9397-08002B2CF9AE}" pid="11" name="labels">
    <vt:lpwstr/>
  </property>
  <property fmtid="{D5CDD505-2E9C-101B-9397-08002B2CF9AE}" pid="12" name="subtitle">
    <vt:lpwstr>From models to autonomous agents</vt:lpwstr>
  </property>
  <property fmtid="{D5CDD505-2E9C-101B-9397-08002B2CF9AE}" pid="13" name="toc-title">
    <vt:lpwstr>Table of contents</vt:lpwstr>
  </property>
</Properties>
</file>